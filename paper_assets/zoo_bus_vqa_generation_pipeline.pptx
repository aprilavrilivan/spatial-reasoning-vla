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8288000" cy="6858000" type="custom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jpg"/><Relationship Id="rId1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8288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Card"/>
          <p:cNvSpPr/>
          <p:nvPr/>
        </p:nvSpPr>
        <p:spPr>
          <a:xfrm>
            <a:off x="91440" y="109728"/>
            <a:ext cx="2578608" cy="6565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5EC"/>
            </a:solidFill>
          </a:ln>
        </p:spPr>
      </p:sp>
      <p:sp>
        <p:nvSpPr>
          <p:cNvPr id="4" name="TitleBar"/>
          <p:cNvSpPr/>
          <p:nvPr/>
        </p:nvSpPr>
        <p:spPr>
          <a:xfrm>
            <a:off x="91440" y="109728"/>
            <a:ext cx="2578608" cy="384048"/>
          </a:xfrm>
          <a:prstGeom prst="roundRect">
            <a:avLst/>
          </a:prstGeom>
          <a:solidFill>
            <a:srgbClr val="EAF3FE"/>
          </a:solidFill>
          <a:ln w="15240">
            <a:solidFill>
              <a:srgbClr val="B8CCE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b="1">
                <a:solidFill>
                  <a:srgbClr val="1B2430"/>
                </a:solidFill>
                <a:latin typeface="Arial"/>
              </a:rPr>
              <a:t>1. Object Library</a:t>
            </a:r>
          </a:p>
        </p:txBody>
      </p:sp>
      <p:sp>
        <p:nvSpPr>
          <p:cNvPr id="5" name="Card"/>
          <p:cNvSpPr/>
          <p:nvPr/>
        </p:nvSpPr>
        <p:spPr>
          <a:xfrm>
            <a:off x="3246120" y="109728"/>
            <a:ext cx="4343400" cy="6565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5EC"/>
            </a:solidFill>
          </a:ln>
        </p:spPr>
      </p:sp>
      <p:sp>
        <p:nvSpPr>
          <p:cNvPr id="6" name="TitleBar"/>
          <p:cNvSpPr/>
          <p:nvPr/>
        </p:nvSpPr>
        <p:spPr>
          <a:xfrm>
            <a:off x="3246120" y="109728"/>
            <a:ext cx="4343400" cy="384048"/>
          </a:xfrm>
          <a:prstGeom prst="roundRect">
            <a:avLst/>
          </a:prstGeom>
          <a:solidFill>
            <a:srgbClr val="EEF7EA"/>
          </a:solidFill>
          <a:ln w="15240">
            <a:solidFill>
              <a:srgbClr val="C7DDBF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b="1">
                <a:solidFill>
                  <a:srgbClr val="1B2430"/>
                </a:solidFill>
                <a:latin typeface="Arial"/>
              </a:rPr>
              <a:t>2. Scene Synthesis</a:t>
            </a:r>
          </a:p>
        </p:txBody>
      </p:sp>
      <p:sp>
        <p:nvSpPr>
          <p:cNvPr id="7" name="Card"/>
          <p:cNvSpPr/>
          <p:nvPr/>
        </p:nvSpPr>
        <p:spPr>
          <a:xfrm>
            <a:off x="8138160" y="109728"/>
            <a:ext cx="4343400" cy="6565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5EC"/>
            </a:solidFill>
          </a:ln>
        </p:spPr>
      </p:sp>
      <p:sp>
        <p:nvSpPr>
          <p:cNvPr id="8" name="TitleBar"/>
          <p:cNvSpPr/>
          <p:nvPr/>
        </p:nvSpPr>
        <p:spPr>
          <a:xfrm>
            <a:off x="8138160" y="109728"/>
            <a:ext cx="4343400" cy="384048"/>
          </a:xfrm>
          <a:prstGeom prst="roundRect">
            <a:avLst/>
          </a:prstGeom>
          <a:solidFill>
            <a:srgbClr val="FFF7DE"/>
          </a:solidFill>
          <a:ln w="15240">
            <a:solidFill>
              <a:srgbClr val="E5D394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b="1">
                <a:solidFill>
                  <a:srgbClr val="1B2430"/>
                </a:solidFill>
                <a:latin typeface="Arial"/>
              </a:rPr>
              <a:t>3. Detector-in-the-loop</a:t>
            </a:r>
            <a:br/>
            <a:r>
              <a:rPr lang="en-US" sz="1250" b="1">
                <a:solidFill>
                  <a:srgbClr val="1B2430"/>
                </a:solidFill>
                <a:latin typeface="Arial"/>
              </a:rPr>
              <a:t>Quality Check</a:t>
            </a:r>
          </a:p>
        </p:txBody>
      </p:sp>
      <p:sp>
        <p:nvSpPr>
          <p:cNvPr id="9" name="Card"/>
          <p:cNvSpPr/>
          <p:nvPr/>
        </p:nvSpPr>
        <p:spPr>
          <a:xfrm>
            <a:off x="13030200" y="109728"/>
            <a:ext cx="2395728" cy="6565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5EC"/>
            </a:solidFill>
          </a:ln>
        </p:spPr>
      </p:sp>
      <p:sp>
        <p:nvSpPr>
          <p:cNvPr id="10" name="TitleBar"/>
          <p:cNvSpPr/>
          <p:nvPr/>
        </p:nvSpPr>
        <p:spPr>
          <a:xfrm>
            <a:off x="13030200" y="109728"/>
            <a:ext cx="2395728" cy="384048"/>
          </a:xfrm>
          <a:prstGeom prst="roundRect">
            <a:avLst/>
          </a:prstGeom>
          <a:solidFill>
            <a:srgbClr val="F2EEF9"/>
          </a:solidFill>
          <a:ln w="15240">
            <a:solidFill>
              <a:srgbClr val="CEC1DE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b="1">
                <a:solidFill>
                  <a:srgbClr val="1B2430"/>
                </a:solidFill>
                <a:latin typeface="Arial"/>
              </a:rPr>
              <a:t>4. GRAID-based</a:t>
            </a:r>
            <a:br/>
            <a:r>
              <a:rPr lang="en-US" sz="1250" b="1">
                <a:solidFill>
                  <a:srgbClr val="1B2430"/>
                </a:solidFill>
                <a:latin typeface="Arial"/>
              </a:rPr>
              <a:t>QA Generation</a:t>
            </a:r>
          </a:p>
        </p:txBody>
      </p:sp>
      <p:sp>
        <p:nvSpPr>
          <p:cNvPr id="11" name="Card"/>
          <p:cNvSpPr/>
          <p:nvPr/>
        </p:nvSpPr>
        <p:spPr>
          <a:xfrm>
            <a:off x="15773400" y="109728"/>
            <a:ext cx="2423160" cy="6565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FE5EC"/>
            </a:solidFill>
          </a:ln>
        </p:spPr>
      </p:sp>
      <p:sp>
        <p:nvSpPr>
          <p:cNvPr id="12" name="TitleBar"/>
          <p:cNvSpPr/>
          <p:nvPr/>
        </p:nvSpPr>
        <p:spPr>
          <a:xfrm>
            <a:off x="15773400" y="109728"/>
            <a:ext cx="2423160" cy="384048"/>
          </a:xfrm>
          <a:prstGeom prst="roundRect">
            <a:avLst/>
          </a:prstGeom>
          <a:solidFill>
            <a:srgbClr val="EEF5FE"/>
          </a:solidFill>
          <a:ln w="15240">
            <a:solidFill>
              <a:srgbClr val="B8CCE5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50" b="1">
                <a:solidFill>
                  <a:srgbClr val="1B2430"/>
                </a:solidFill>
                <a:latin typeface="Arial"/>
              </a:rPr>
              <a:t>5. QA Pairs Output</a:t>
            </a:r>
          </a:p>
        </p:txBody>
      </p:sp>
      <p:sp>
        <p:nvSpPr>
          <p:cNvPr id="13" name="Benches (3-5)"/>
          <p:cNvSpPr/>
          <p:nvPr/>
        </p:nvSpPr>
        <p:spPr>
          <a:xfrm>
            <a:off x="164592" y="658368"/>
            <a:ext cx="2432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9" b="1">
                <a:solidFill>
                  <a:srgbClr val="1B2430"/>
                </a:solidFill>
                <a:latin typeface="Arial"/>
              </a:rPr>
              <a:t>Benches (3-5)</a:t>
            </a:r>
          </a:p>
        </p:txBody>
      </p:sp>
      <p:sp>
        <p:nvSpPr>
          <p:cNvPr id="14" name="Stop Signs (2-3)"/>
          <p:cNvSpPr/>
          <p:nvPr/>
        </p:nvSpPr>
        <p:spPr>
          <a:xfrm>
            <a:off x="164592" y="1417320"/>
            <a:ext cx="2432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9" b="1">
                <a:solidFill>
                  <a:srgbClr val="1B2430"/>
                </a:solidFill>
                <a:latin typeface="Arial"/>
              </a:rPr>
              <a:t>Stop Signs (2-3)</a:t>
            </a:r>
          </a:p>
        </p:txBody>
      </p:sp>
      <p:sp>
        <p:nvSpPr>
          <p:cNvPr id="15" name="People (0-3 per bench)"/>
          <p:cNvSpPr/>
          <p:nvPr/>
        </p:nvSpPr>
        <p:spPr>
          <a:xfrm>
            <a:off x="164592" y="2304288"/>
            <a:ext cx="2432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9" b="1">
                <a:solidFill>
                  <a:srgbClr val="1B2430"/>
                </a:solidFill>
                <a:latin typeface="Arial"/>
              </a:rPr>
              <a:t>People (0-3 per bench)</a:t>
            </a:r>
          </a:p>
        </p:txBody>
      </p:sp>
      <p:sp>
        <p:nvSpPr>
          <p:cNvPr id="16" name="Animals (2-5 per stop sign)"/>
          <p:cNvSpPr/>
          <p:nvPr/>
        </p:nvSpPr>
        <p:spPr>
          <a:xfrm>
            <a:off x="164592" y="3337560"/>
            <a:ext cx="2432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9" b="1">
                <a:solidFill>
                  <a:srgbClr val="1B2430"/>
                </a:solidFill>
                <a:latin typeface="Arial"/>
              </a:rPr>
              <a:t>Animals (2-5 per stop sign)</a:t>
            </a:r>
          </a:p>
        </p:txBody>
      </p:sp>
      <p:sp>
        <p:nvSpPr>
          <p:cNvPr id="17" name="Agent (1)"/>
          <p:cNvSpPr/>
          <p:nvPr/>
        </p:nvSpPr>
        <p:spPr>
          <a:xfrm>
            <a:off x="164592" y="4315968"/>
            <a:ext cx="2432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9" b="1">
                <a:solidFill>
                  <a:srgbClr val="1B2430"/>
                </a:solidFill>
                <a:latin typeface="Arial"/>
              </a:rPr>
              <a:t>Agent (1)</a:t>
            </a:r>
          </a:p>
        </p:txBody>
      </p:sp>
      <p:pic>
        <p:nvPicPr>
          <p:cNvPr id="18" name="bench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566928" cy="338328"/>
          </a:xfrm>
          <a:prstGeom prst="rect">
            <a:avLst/>
          </a:prstGeom>
        </p:spPr>
      </p:pic>
      <p:pic>
        <p:nvPicPr>
          <p:cNvPr id="19" name="bench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868680"/>
            <a:ext cx="566928" cy="338328"/>
          </a:xfrm>
          <a:prstGeom prst="rect">
            <a:avLst/>
          </a:prstGeom>
        </p:spPr>
      </p:pic>
      <p:pic>
        <p:nvPicPr>
          <p:cNvPr id="20" name="benc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868680"/>
            <a:ext cx="566928" cy="338328"/>
          </a:xfrm>
          <a:prstGeom prst="rect">
            <a:avLst/>
          </a:prstGeom>
        </p:spPr>
      </p:pic>
      <p:sp>
        <p:nvSpPr>
          <p:cNvPr id="21" name="bench dots"/>
          <p:cNvSpPr/>
          <p:nvPr/>
        </p:nvSpPr>
        <p:spPr>
          <a:xfrm>
            <a:off x="2029968" y="950976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22" name="stop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673352"/>
            <a:ext cx="384048" cy="384048"/>
          </a:xfrm>
          <a:prstGeom prst="rect">
            <a:avLst/>
          </a:prstGeom>
        </p:spPr>
      </p:pic>
      <p:pic>
        <p:nvPicPr>
          <p:cNvPr id="23" name="stop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1673352"/>
            <a:ext cx="384048" cy="384048"/>
          </a:xfrm>
          <a:prstGeom prst="rect">
            <a:avLst/>
          </a:prstGeom>
        </p:spPr>
      </p:pic>
      <p:pic>
        <p:nvPicPr>
          <p:cNvPr id="24" name="stop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752" y="1673352"/>
            <a:ext cx="384048" cy="384048"/>
          </a:xfrm>
          <a:prstGeom prst="rect">
            <a:avLst/>
          </a:prstGeom>
        </p:spPr>
      </p:pic>
      <p:sp>
        <p:nvSpPr>
          <p:cNvPr id="25" name="stop dots"/>
          <p:cNvSpPr/>
          <p:nvPr/>
        </p:nvSpPr>
        <p:spPr>
          <a:xfrm>
            <a:off x="2011680" y="1783080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26" name="person 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560320"/>
            <a:ext cx="265176" cy="493776"/>
          </a:xfrm>
          <a:prstGeom prst="rect">
            <a:avLst/>
          </a:prstGeom>
        </p:spPr>
      </p:pic>
      <p:pic>
        <p:nvPicPr>
          <p:cNvPr id="27" name="person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2560320"/>
            <a:ext cx="265176" cy="493776"/>
          </a:xfrm>
          <a:prstGeom prst="rect">
            <a:avLst/>
          </a:prstGeom>
        </p:spPr>
      </p:pic>
      <p:pic>
        <p:nvPicPr>
          <p:cNvPr id="28" name="person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" y="2560320"/>
            <a:ext cx="265176" cy="493776"/>
          </a:xfrm>
          <a:prstGeom prst="rect">
            <a:avLst/>
          </a:prstGeom>
        </p:spPr>
      </p:pic>
      <p:pic>
        <p:nvPicPr>
          <p:cNvPr id="29" name="person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6464" y="2560320"/>
            <a:ext cx="265176" cy="493776"/>
          </a:xfrm>
          <a:prstGeom prst="rect">
            <a:avLst/>
          </a:prstGeom>
        </p:spPr>
      </p:pic>
      <p:sp>
        <p:nvSpPr>
          <p:cNvPr id="30" name="people dots"/>
          <p:cNvSpPr/>
          <p:nvPr/>
        </p:nvSpPr>
        <p:spPr>
          <a:xfrm>
            <a:off x="2011680" y="276148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31" name="elephan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3639312"/>
            <a:ext cx="502920" cy="402336"/>
          </a:xfrm>
          <a:prstGeom prst="rect">
            <a:avLst/>
          </a:prstGeom>
        </p:spPr>
      </p:pic>
      <p:sp>
        <p:nvSpPr>
          <p:cNvPr id="32" name="animal dots 1"/>
          <p:cNvSpPr/>
          <p:nvPr/>
        </p:nvSpPr>
        <p:spPr>
          <a:xfrm>
            <a:off x="694944" y="3767328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33" name="giraff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621024"/>
            <a:ext cx="393192" cy="402336"/>
          </a:xfrm>
          <a:prstGeom prst="rect">
            <a:avLst/>
          </a:prstGeom>
        </p:spPr>
      </p:pic>
      <p:sp>
        <p:nvSpPr>
          <p:cNvPr id="34" name="animal dots 2"/>
          <p:cNvSpPr/>
          <p:nvPr/>
        </p:nvSpPr>
        <p:spPr>
          <a:xfrm>
            <a:off x="1344168" y="3767328"/>
            <a:ext cx="1828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1B2430"/>
                </a:solidFill>
                <a:latin typeface="Arial"/>
              </a:rPr>
              <a:t>...</a:t>
            </a:r>
          </a:p>
        </p:txBody>
      </p:sp>
      <p:pic>
        <p:nvPicPr>
          <p:cNvPr id="35" name="zebra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4480" y="3639312"/>
            <a:ext cx="457200" cy="411480"/>
          </a:xfrm>
          <a:prstGeom prst="rect">
            <a:avLst/>
          </a:prstGeom>
        </p:spPr>
      </p:pic>
      <p:pic>
        <p:nvPicPr>
          <p:cNvPr id="36" name="clock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92" y="4553712"/>
            <a:ext cx="530352" cy="530352"/>
          </a:xfrm>
          <a:prstGeom prst="rect">
            <a:avLst/>
          </a:prstGeom>
        </p:spPr>
      </p:pic>
      <p:sp>
        <p:nvSpPr>
          <p:cNvPr id="37" name="heading dot"/>
          <p:cNvSpPr/>
          <p:nvPr/>
        </p:nvSpPr>
        <p:spPr>
          <a:xfrm>
            <a:off x="1481328" y="4773168"/>
            <a:ext cx="146304" cy="146304"/>
          </a:xfrm>
          <a:prstGeom prst="ellipse">
            <a:avLst/>
          </a:prstGeom>
          <a:solidFill>
            <a:srgbClr val="E42522"/>
          </a:solidFill>
          <a:ln w="10160">
            <a:solidFill>
              <a:srgbClr val="A01616"/>
            </a:solidFill>
          </a:ln>
        </p:spPr>
      </p:sp>
      <p:sp>
        <p:nvSpPr>
          <p:cNvPr id="38" name="heading legend dot"/>
          <p:cNvSpPr/>
          <p:nvPr/>
        </p:nvSpPr>
        <p:spPr>
          <a:xfrm>
            <a:off x="411480" y="6254496"/>
            <a:ext cx="128016" cy="128016"/>
          </a:xfrm>
          <a:prstGeom prst="ellipse">
            <a:avLst/>
          </a:prstGeom>
          <a:solidFill>
            <a:srgbClr val="E42522"/>
          </a:solidFill>
          <a:ln w="8890">
            <a:solidFill>
              <a:srgbClr val="A01616"/>
            </a:solidFill>
          </a:ln>
        </p:spPr>
      </p:sp>
      <p:sp>
        <p:nvSpPr>
          <p:cNvPr id="39" name="heading text"/>
          <p:cNvSpPr/>
          <p:nvPr/>
        </p:nvSpPr>
        <p:spPr>
          <a:xfrm>
            <a:off x="566928" y="618134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850" b="1">
                <a:solidFill>
                  <a:srgbClr val="1B2430"/>
                </a:solidFill>
                <a:latin typeface="Arial"/>
              </a:rPr>
              <a:t>Heading indicator (red dot)</a:t>
            </a:r>
          </a:p>
        </p:txBody>
      </p:sp>
      <p:sp>
        <p:nvSpPr>
          <p:cNvPr id="40" name="object arrow curved"/>
          <p:cNvSpPr/>
          <p:nvPr/>
        </p:nvSpPr>
        <p:spPr>
          <a:xfrm>
            <a:off x="2542032" y="914400"/>
            <a:ext cx="603504" cy="448056"/>
          </a:xfrm>
          <a:custGeom>
            <a:avLst/>
            <a:gdLst/>
            <a:ahLst/>
            <a:cxnLst/>
            <a:rect l="0" t="0" r="0" b="0"/>
            <a:pathLst>
              <a:path w="603504" h="448056">
                <a:moveTo>
                  <a:pt x="18288" y="45720"/>
                </a:moveTo>
                <a:quadBezTo>
                  <a:pt x="365760" y="18288"/>
                  <a:pt x="585216" y="429768"/>
                </a:quadBezTo>
              </a:path>
            </a:pathLst>
          </a:custGeom>
          <a:noFill/>
          <a:ln w="35560">
            <a:solidFill>
              <a:srgbClr val="111111"/>
            </a:solidFill>
            <a:tailEnd type="triangle" w="med" len="med"/>
          </a:ln>
        </p:spPr>
      </p:sp>
      <p:sp>
        <p:nvSpPr>
          <p:cNvPr id="41" name="object arrow curved"/>
          <p:cNvSpPr/>
          <p:nvPr/>
        </p:nvSpPr>
        <p:spPr>
          <a:xfrm>
            <a:off x="2542032" y="1792224"/>
            <a:ext cx="603504" cy="347472"/>
          </a:xfrm>
          <a:custGeom>
            <a:avLst/>
            <a:gdLst/>
            <a:ahLst/>
            <a:cxnLst/>
            <a:rect l="0" t="0" r="0" b="0"/>
            <a:pathLst>
              <a:path w="603504" h="347472">
                <a:moveTo>
                  <a:pt x="18288" y="18288"/>
                </a:moveTo>
                <a:quadBezTo>
                  <a:pt x="347472" y="18288"/>
                  <a:pt x="585216" y="329184"/>
                </a:quadBezTo>
              </a:path>
            </a:pathLst>
          </a:custGeom>
          <a:noFill/>
          <a:ln w="35560">
            <a:solidFill>
              <a:srgbClr val="111111"/>
            </a:solidFill>
            <a:tailEnd type="triangle" w="med" len="med"/>
          </a:ln>
        </p:spPr>
      </p:sp>
      <p:sp>
        <p:nvSpPr>
          <p:cNvPr id="42" name="object arrow curved"/>
          <p:cNvSpPr/>
          <p:nvPr/>
        </p:nvSpPr>
        <p:spPr>
          <a:xfrm>
            <a:off x="2542032" y="2706624"/>
            <a:ext cx="603504" cy="128016"/>
          </a:xfrm>
          <a:custGeom>
            <a:avLst/>
            <a:gdLst/>
            <a:ahLst/>
            <a:cxnLst/>
            <a:rect l="0" t="0" r="0" b="0"/>
            <a:pathLst>
              <a:path w="603504" h="128016">
                <a:moveTo>
                  <a:pt x="18288" y="54864"/>
                </a:moveTo>
                <a:quadBezTo>
                  <a:pt x="347472" y="18288"/>
                  <a:pt x="585216" y="109728"/>
                </a:quadBezTo>
              </a:path>
            </a:pathLst>
          </a:custGeom>
          <a:noFill/>
          <a:ln w="35560">
            <a:solidFill>
              <a:srgbClr val="111111"/>
            </a:solidFill>
            <a:tailEnd type="triangle" w="med" len="med"/>
          </a:ln>
        </p:spPr>
      </p:sp>
      <p:sp>
        <p:nvSpPr>
          <p:cNvPr id="43" name="object arrow curved"/>
          <p:cNvSpPr/>
          <p:nvPr/>
        </p:nvSpPr>
        <p:spPr>
          <a:xfrm>
            <a:off x="2542032" y="3346704"/>
            <a:ext cx="603504" cy="466344"/>
          </a:xfrm>
          <a:custGeom>
            <a:avLst/>
            <a:gdLst/>
            <a:ahLst/>
            <a:cxnLst/>
            <a:rect l="0" t="0" r="0" b="0"/>
            <a:pathLst>
              <a:path w="603504" h="466344">
                <a:moveTo>
                  <a:pt x="18288" y="448056"/>
                </a:moveTo>
                <a:quadBezTo>
                  <a:pt x="356616" y="365760"/>
                  <a:pt x="585216" y="18288"/>
                </a:quadBezTo>
              </a:path>
            </a:pathLst>
          </a:custGeom>
          <a:noFill/>
          <a:ln w="35560">
            <a:solidFill>
              <a:srgbClr val="111111"/>
            </a:solidFill>
            <a:tailEnd type="triangle" w="med" len="med"/>
          </a:ln>
        </p:spPr>
      </p:sp>
      <p:sp>
        <p:nvSpPr>
          <p:cNvPr id="44" name="scene desc"/>
          <p:cNvSpPr/>
          <p:nvPr/>
        </p:nvSpPr>
        <p:spPr>
          <a:xfrm>
            <a:off x="3511296" y="566928"/>
            <a:ext cx="3803904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30" b="1">
                <a:solidFill>
                  <a:srgbClr val="1B2430"/>
                </a:solidFill>
                <a:latin typeface="Arial"/>
              </a:rPr>
              <a:t>Objects are placed on a jittered grid with</a:t>
            </a:r>
            <a:br/>
            <a:r>
              <a:rPr lang="en-US" sz="1030" b="1">
                <a:solidFill>
                  <a:srgbClr val="1B2430"/>
                </a:solidFill>
                <a:latin typeface="Arial"/>
              </a:rPr>
              <a:t>constraints (no heavy overlap, inside canvas,</a:t>
            </a:r>
            <a:br/>
            <a:r>
              <a:rPr lang="en-US" sz="1030" b="1">
                <a:solidFill>
                  <a:srgbClr val="1B2430"/>
                </a:solidFill>
                <a:latin typeface="Arial"/>
              </a:rPr>
              <a:t>readable IDs, valid free space).</a:t>
            </a:r>
          </a:p>
        </p:txBody>
      </p:sp>
      <p:pic>
        <p:nvPicPr>
          <p:cNvPr id="45" name="scene 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0" y="1408176"/>
            <a:ext cx="3986784" cy="2990088"/>
          </a:xfrm>
          <a:prstGeom prst="rect">
            <a:avLst/>
          </a:prstGeom>
        </p:spPr>
      </p:pic>
      <p:sp>
        <p:nvSpPr>
          <p:cNvPr id="46" name="scene checklist bg"/>
          <p:cNvSpPr/>
          <p:nvPr/>
        </p:nvSpPr>
        <p:spPr>
          <a:xfrm>
            <a:off x="3273552" y="4407408"/>
            <a:ext cx="4297680" cy="2212848"/>
          </a:xfrm>
          <a:prstGeom prst="roundRect">
            <a:avLst/>
          </a:prstGeom>
          <a:solidFill>
            <a:srgbClr val="EFF8E8"/>
          </a:solidFill>
          <a:ln w="12700">
            <a:solidFill>
              <a:srgbClr val="DAEBCF"/>
            </a:solidFill>
          </a:ln>
        </p:spPr>
      </p:sp>
      <p:sp>
        <p:nvSpPr>
          <p:cNvPr id="47" name="scene checklist"/>
          <p:cNvSpPr/>
          <p:nvPr/>
        </p:nvSpPr>
        <p:spPr>
          <a:xfrm>
            <a:off x="3429000" y="4526280"/>
            <a:ext cx="388620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Jittered grid for benches &amp; stop signs</a:t>
            </a:r>
          </a:p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Animals sampled on circular ring around stop sign</a:t>
            </a:r>
          </a:p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People sampled on front arc of bench</a:t>
            </a:r>
          </a:p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Overlap checks, boundary checks, free-space checks</a:t>
            </a:r>
          </a:p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Clock agent + red heading dot</a:t>
            </a:r>
          </a:p>
          <a:p>
            <a:pPr algn="l"/>
            <a:r>
              <a:rPr lang="en-US" sz="880" b="1">
                <a:solidFill>
                  <a:srgbClr val="41523A"/>
                </a:solidFill>
                <a:latin typeface="Arial"/>
              </a:rPr>
              <a:t>• Visible ID tags for benches and stop signs</a:t>
            </a:r>
          </a:p>
        </p:txBody>
      </p:sp>
      <p:cxnSp>
        <p:nvCxnSpPr>
          <p:cNvPr id="48" name="arrow scene detector"/>
          <p:cNvCxnSpPr/>
          <p:nvPr/>
        </p:nvCxnSpPr>
        <p:spPr>
          <a:xfrm>
            <a:off x="7635240" y="3383280"/>
            <a:ext cx="429768" cy="0"/>
          </a:xfrm>
          <a:prstGeom prst="line">
            <a:avLst/>
          </a:prstGeom>
          <a:ln w="50800">
            <a:solidFill>
              <a:srgbClr val="000000"/>
            </a:solidFill>
            <a:tailEnd type="triangle" w="med" len="med"/>
          </a:ln>
        </p:spPr>
      </p:cxnSp>
      <p:sp>
        <p:nvSpPr>
          <p:cNvPr id="49" name="detector desc"/>
          <p:cNvSpPr/>
          <p:nvPr/>
        </p:nvSpPr>
        <p:spPr>
          <a:xfrm>
            <a:off x="8522208" y="60350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10" b="1">
                <a:solidFill>
                  <a:srgbClr val="1B2430"/>
                </a:solidFill>
                <a:latin typeface="Arial"/>
              </a:rPr>
              <a:t>Final JPEG is run through YOLO.</a:t>
            </a:r>
            <a:br/>
            <a:r>
              <a:rPr lang="en-US" sz="1010" b="1">
                <a:solidFill>
                  <a:srgbClr val="1B2430"/>
                </a:solidFill>
                <a:latin typeface="Arial"/>
              </a:rPr>
              <a:t>All expected objects must be detected</a:t>
            </a:r>
            <a:br/>
            <a:r>
              <a:rPr lang="en-US" sz="1010" b="1">
                <a:solidFill>
                  <a:srgbClr val="1B2430"/>
                </a:solidFill>
                <a:latin typeface="Arial"/>
              </a:rPr>
              <a:t>with correct counts and good IoU match.</a:t>
            </a:r>
          </a:p>
        </p:txBody>
      </p:sp>
      <p:pic>
        <p:nvPicPr>
          <p:cNvPr id="50" name="detection 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1408176"/>
            <a:ext cx="3986784" cy="2990088"/>
          </a:xfrm>
          <a:prstGeom prst="rect">
            <a:avLst/>
          </a:prstGeom>
        </p:spPr>
      </p:pic>
      <p:sp>
        <p:nvSpPr>
          <p:cNvPr id="51" name="det checklist bg"/>
          <p:cNvSpPr/>
          <p:nvPr/>
        </p:nvSpPr>
        <p:spPr>
          <a:xfrm>
            <a:off x="8165592" y="4407408"/>
            <a:ext cx="4297680" cy="2212848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E8D99C"/>
            </a:solidFill>
          </a:ln>
        </p:spPr>
      </p:sp>
      <p:sp>
        <p:nvSpPr>
          <p:cNvPr id="52" name="det checklist"/>
          <p:cNvSpPr/>
          <p:nvPr/>
        </p:nvSpPr>
        <p:spPr>
          <a:xfrm>
            <a:off x="8321040" y="4526280"/>
            <a:ext cx="388620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• All benches, stop signs, people, and animals detected</a:t>
            </a:r>
          </a:p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  with correct class and count</a:t>
            </a:r>
          </a:p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• IoU-based one-to-one matching with placed objects</a:t>
            </a:r>
          </a:p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• Exactly one clock detected</a:t>
            </a:r>
          </a:p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• Pass -&gt; keep the image</a:t>
            </a:r>
          </a:p>
          <a:p>
            <a:pPr algn="l"/>
            <a:r>
              <a:rPr lang="en-US" sz="880" b="1">
                <a:solidFill>
                  <a:srgbClr val="51482A"/>
                </a:solidFill>
                <a:latin typeface="Arial"/>
              </a:rPr>
              <a:t>• Fail -&gt; discard the image</a:t>
            </a:r>
          </a:p>
        </p:txBody>
      </p:sp>
      <p:cxnSp>
        <p:nvCxnSpPr>
          <p:cNvPr id="53" name="arrow detector graid"/>
          <p:cNvCxnSpPr/>
          <p:nvPr/>
        </p:nvCxnSpPr>
        <p:spPr>
          <a:xfrm>
            <a:off x="12527280" y="3383280"/>
            <a:ext cx="429768" cy="0"/>
          </a:xfrm>
          <a:prstGeom prst="line">
            <a:avLst/>
          </a:prstGeom>
          <a:ln w="50800">
            <a:solidFill>
              <a:srgbClr val="000000"/>
            </a:solidFill>
            <a:tailEnd type="triangle" w="med" len="med"/>
          </a:ln>
        </p:spPr>
      </p:cxnSp>
      <p:sp>
        <p:nvSpPr>
          <p:cNvPr id="54" name="graid desc"/>
          <p:cNvSpPr/>
          <p:nvPr/>
        </p:nvSpPr>
        <p:spPr>
          <a:xfrm>
            <a:off x="13194792" y="64008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940" b="1">
                <a:solidFill>
                  <a:srgbClr val="1B2430"/>
                </a:solidFill>
                <a:latin typeface="Arial"/>
              </a:rPr>
              <a:t>GRAID uses detected boxes and</a:t>
            </a:r>
            <a:br/>
            <a:r>
              <a:rPr lang="en-US" sz="940" b="1">
                <a:solidFill>
                  <a:srgbClr val="1B2430"/>
                </a:solidFill>
                <a:latin typeface="Arial"/>
              </a:rPr>
              <a:t>geometric rules to generate</a:t>
            </a:r>
            <a:br/>
            <a:r>
              <a:rPr lang="en-US" sz="940" b="1">
                <a:solidFill>
                  <a:srgbClr val="1B2430"/>
                </a:solidFill>
                <a:latin typeface="Arial"/>
              </a:rPr>
              <a:t>QA pairs via templates</a:t>
            </a:r>
            <a:br/>
            <a:r>
              <a:rPr lang="en-US" sz="940" b="1">
                <a:solidFill>
                  <a:srgbClr val="1B2430"/>
                </a:solidFill>
                <a:latin typeface="Arial"/>
              </a:rPr>
              <a:t>and predicates.</a:t>
            </a:r>
          </a:p>
        </p:txBody>
      </p:sp>
      <p:cxnSp>
        <p:nvCxnSpPr>
          <p:cNvPr id="55" name="graid edge"/>
          <p:cNvCxnSpPr/>
          <p:nvPr/>
        </p:nvCxnSpPr>
        <p:spPr>
          <a:xfrm flipH="1">
            <a:off x="13898880" y="1673352"/>
            <a:ext cx="320040" cy="32004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56" name="graid edge"/>
          <p:cNvCxnSpPr/>
          <p:nvPr/>
        </p:nvCxnSpPr>
        <p:spPr>
          <a:xfrm>
            <a:off x="14218920" y="1673352"/>
            <a:ext cx="292608" cy="32004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57" name="graid edge"/>
          <p:cNvCxnSpPr/>
          <p:nvPr/>
        </p:nvCxnSpPr>
        <p:spPr>
          <a:xfrm>
            <a:off x="13898880" y="1993392"/>
            <a:ext cx="182880" cy="32004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58" name="graid edge"/>
          <p:cNvCxnSpPr/>
          <p:nvPr/>
        </p:nvCxnSpPr>
        <p:spPr>
          <a:xfrm>
            <a:off x="14511528" y="1993392"/>
            <a:ext cx="118872" cy="32004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59" name="graid edge"/>
          <p:cNvCxnSpPr/>
          <p:nvPr/>
        </p:nvCxnSpPr>
        <p:spPr>
          <a:xfrm>
            <a:off x="14081760" y="2313432"/>
            <a:ext cx="164592" cy="27432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60" name="graid edge"/>
          <p:cNvCxnSpPr/>
          <p:nvPr/>
        </p:nvCxnSpPr>
        <p:spPr>
          <a:xfrm flipH="1">
            <a:off x="14246352" y="2313432"/>
            <a:ext cx="384048" cy="27432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61" name="graid edge"/>
          <p:cNvCxnSpPr/>
          <p:nvPr/>
        </p:nvCxnSpPr>
        <p:spPr>
          <a:xfrm>
            <a:off x="13898880" y="1993392"/>
            <a:ext cx="347472" cy="59436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cxnSp>
        <p:nvCxnSpPr>
          <p:cNvPr id="62" name="graid edge"/>
          <p:cNvCxnSpPr/>
          <p:nvPr/>
        </p:nvCxnSpPr>
        <p:spPr>
          <a:xfrm flipH="1">
            <a:off x="14081760" y="1993392"/>
            <a:ext cx="429768" cy="320040"/>
          </a:xfrm>
          <a:prstGeom prst="line">
            <a:avLst/>
          </a:prstGeom>
          <a:ln w="15240">
            <a:solidFill>
              <a:srgbClr val="6A7785"/>
            </a:solidFill>
          </a:ln>
        </p:spPr>
      </p:cxnSp>
      <p:sp>
        <p:nvSpPr>
          <p:cNvPr id="63" name="graid node 0"/>
          <p:cNvSpPr/>
          <p:nvPr/>
        </p:nvSpPr>
        <p:spPr>
          <a:xfrm>
            <a:off x="14168628" y="1623060"/>
            <a:ext cx="100584" cy="100584"/>
          </a:xfrm>
          <a:prstGeom prst="ellipse">
            <a:avLst/>
          </a:prstGeom>
          <a:solidFill>
            <a:srgbClr val="6CAA5D"/>
          </a:solidFill>
          <a:ln w="7620">
            <a:solidFill>
              <a:srgbClr val="FFFFFF"/>
            </a:solidFill>
          </a:ln>
        </p:spPr>
      </p:sp>
      <p:sp>
        <p:nvSpPr>
          <p:cNvPr id="64" name="graid node 1"/>
          <p:cNvSpPr/>
          <p:nvPr/>
        </p:nvSpPr>
        <p:spPr>
          <a:xfrm>
            <a:off x="13848588" y="1943100"/>
            <a:ext cx="100584" cy="100584"/>
          </a:xfrm>
          <a:prstGeom prst="ellipse">
            <a:avLst/>
          </a:prstGeom>
          <a:solidFill>
            <a:srgbClr val="6CAA5D"/>
          </a:solidFill>
          <a:ln w="7620">
            <a:solidFill>
              <a:srgbClr val="FFFFFF"/>
            </a:solidFill>
          </a:ln>
        </p:spPr>
      </p:sp>
      <p:sp>
        <p:nvSpPr>
          <p:cNvPr id="65" name="graid node 2"/>
          <p:cNvSpPr/>
          <p:nvPr/>
        </p:nvSpPr>
        <p:spPr>
          <a:xfrm>
            <a:off x="14461236" y="1943100"/>
            <a:ext cx="100584" cy="100584"/>
          </a:xfrm>
          <a:prstGeom prst="ellipse">
            <a:avLst/>
          </a:prstGeom>
          <a:solidFill>
            <a:srgbClr val="4378BF"/>
          </a:solidFill>
          <a:ln w="7620">
            <a:solidFill>
              <a:srgbClr val="FFFFFF"/>
            </a:solidFill>
          </a:ln>
        </p:spPr>
      </p:sp>
      <p:sp>
        <p:nvSpPr>
          <p:cNvPr id="66" name="graid node 3"/>
          <p:cNvSpPr/>
          <p:nvPr/>
        </p:nvSpPr>
        <p:spPr>
          <a:xfrm>
            <a:off x="14031468" y="2263140"/>
            <a:ext cx="100584" cy="100584"/>
          </a:xfrm>
          <a:prstGeom prst="ellipse">
            <a:avLst/>
          </a:prstGeom>
          <a:solidFill>
            <a:srgbClr val="6CAA5D"/>
          </a:solidFill>
          <a:ln w="7620">
            <a:solidFill>
              <a:srgbClr val="FFFFFF"/>
            </a:solidFill>
          </a:ln>
        </p:spPr>
      </p:sp>
      <p:sp>
        <p:nvSpPr>
          <p:cNvPr id="67" name="graid node 4"/>
          <p:cNvSpPr/>
          <p:nvPr/>
        </p:nvSpPr>
        <p:spPr>
          <a:xfrm>
            <a:off x="14580108" y="2263140"/>
            <a:ext cx="100584" cy="100584"/>
          </a:xfrm>
          <a:prstGeom prst="ellipse">
            <a:avLst/>
          </a:prstGeom>
          <a:solidFill>
            <a:srgbClr val="4378BF"/>
          </a:solidFill>
          <a:ln w="7620">
            <a:solidFill>
              <a:srgbClr val="FFFFFF"/>
            </a:solidFill>
          </a:ln>
        </p:spPr>
      </p:sp>
      <p:sp>
        <p:nvSpPr>
          <p:cNvPr id="68" name="graid node 5"/>
          <p:cNvSpPr/>
          <p:nvPr/>
        </p:nvSpPr>
        <p:spPr>
          <a:xfrm>
            <a:off x="14196060" y="2537460"/>
            <a:ext cx="100584" cy="100584"/>
          </a:xfrm>
          <a:prstGeom prst="ellipse">
            <a:avLst/>
          </a:prstGeom>
          <a:solidFill>
            <a:srgbClr val="4378BF"/>
          </a:solidFill>
          <a:ln w="7620">
            <a:solidFill>
              <a:srgbClr val="FFFFFF"/>
            </a:solidFill>
          </a:ln>
        </p:spPr>
      </p:sp>
      <p:sp>
        <p:nvSpPr>
          <p:cNvPr id="69" name="GRAID text"/>
          <p:cNvSpPr/>
          <p:nvPr/>
        </p:nvSpPr>
        <p:spPr>
          <a:xfrm>
            <a:off x="13441680" y="2560320"/>
            <a:ext cx="1609344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400" b="1">
                <a:solidFill>
                  <a:srgbClr val="1B2430"/>
                </a:solidFill>
                <a:latin typeface="Arial"/>
              </a:rPr>
              <a:t>GRAID</a:t>
            </a:r>
          </a:p>
        </p:txBody>
      </p:sp>
      <p:sp>
        <p:nvSpPr>
          <p:cNvPr id="70" name="inputs box"/>
          <p:cNvSpPr/>
          <p:nvPr/>
        </p:nvSpPr>
        <p:spPr>
          <a:xfrm>
            <a:off x="13331952" y="3310128"/>
            <a:ext cx="1810512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C9D8"/>
            </a:solidFill>
          </a:ln>
        </p:spPr>
      </p:sp>
      <p:sp>
        <p:nvSpPr>
          <p:cNvPr id="71" name="inputs txt"/>
          <p:cNvSpPr/>
          <p:nvPr/>
        </p:nvSpPr>
        <p:spPr>
          <a:xfrm>
            <a:off x="13496544" y="3419856"/>
            <a:ext cx="1481328" cy="557784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60" b="1">
                <a:solidFill>
                  <a:srgbClr val="1B2430"/>
                </a:solidFill>
                <a:latin typeface="Arial"/>
              </a:rPr>
              <a:t>Inputs</a:t>
            </a:r>
          </a:p>
          <a:p>
            <a:pPr algn="l"/>
            <a:r>
              <a:rPr lang="en-US" sz="760" b="1">
                <a:solidFill>
                  <a:srgbClr val="1B2430"/>
                </a:solidFill>
                <a:latin typeface="Arial"/>
              </a:rPr>
              <a:t>• Final image (JPEG)</a:t>
            </a:r>
          </a:p>
          <a:p>
            <a:pPr algn="l"/>
            <a:r>
              <a:rPr lang="en-US" sz="760" b="1">
                <a:solidFill>
                  <a:srgbClr val="1B2430"/>
                </a:solidFill>
                <a:latin typeface="Arial"/>
              </a:rPr>
              <a:t>• YOLO detections</a:t>
            </a:r>
          </a:p>
          <a:p>
            <a:pPr algn="l"/>
            <a:r>
              <a:rPr lang="en-US" sz="760" b="1">
                <a:solidFill>
                  <a:srgbClr val="1B2430"/>
                </a:solidFill>
                <a:latin typeface="Arial"/>
              </a:rPr>
              <a:t>  (bounding boxes)</a:t>
            </a:r>
          </a:p>
        </p:txBody>
      </p:sp>
      <p:cxnSp>
        <p:nvCxnSpPr>
          <p:cNvPr id="72" name="down arrow"/>
          <p:cNvCxnSpPr/>
          <p:nvPr/>
        </p:nvCxnSpPr>
        <p:spPr>
          <a:xfrm>
            <a:off x="14237208" y="4151376"/>
            <a:ext cx="0" cy="384048"/>
          </a:xfrm>
          <a:prstGeom prst="line">
            <a:avLst/>
          </a:prstGeom>
          <a:ln w="27940">
            <a:solidFill>
              <a:srgbClr val="111111"/>
            </a:solidFill>
            <a:tailEnd type="triangle" w="med" len="med"/>
          </a:ln>
        </p:spPr>
      </p:cxnSp>
      <p:sp>
        <p:nvSpPr>
          <p:cNvPr id="73" name="modules box"/>
          <p:cNvSpPr/>
          <p:nvPr/>
        </p:nvSpPr>
        <p:spPr>
          <a:xfrm>
            <a:off x="13331952" y="4599432"/>
            <a:ext cx="1810512" cy="12252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C9D8"/>
            </a:solidFill>
          </a:ln>
        </p:spPr>
      </p:sp>
      <p:sp>
        <p:nvSpPr>
          <p:cNvPr id="74" name="modules txt"/>
          <p:cNvSpPr/>
          <p:nvPr/>
        </p:nvSpPr>
        <p:spPr>
          <a:xfrm>
            <a:off x="13469112" y="4718304"/>
            <a:ext cx="1572768" cy="941832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GRAID Modules</a:t>
            </a:r>
          </a:p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• Question templates</a:t>
            </a:r>
          </a:p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• Applicability predicates</a:t>
            </a:r>
          </a:p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  (SPARQ)</a:t>
            </a:r>
          </a:p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• Geometric decision rules</a:t>
            </a:r>
          </a:p>
          <a:p>
            <a:pPr algn="l"/>
            <a:r>
              <a:rPr lang="en-US" sz="720" b="1">
                <a:solidFill>
                  <a:srgbClr val="1B2430"/>
                </a:solidFill>
                <a:latin typeface="Arial"/>
              </a:rPr>
              <a:t>  (2D box geometry)</a:t>
            </a:r>
          </a:p>
        </p:txBody>
      </p:sp>
      <p:cxnSp>
        <p:nvCxnSpPr>
          <p:cNvPr id="75" name="arrow graid qa"/>
          <p:cNvCxnSpPr/>
          <p:nvPr/>
        </p:nvCxnSpPr>
        <p:spPr>
          <a:xfrm>
            <a:off x="15453360" y="3383280"/>
            <a:ext cx="246888" cy="0"/>
          </a:xfrm>
          <a:prstGeom prst="line">
            <a:avLst/>
          </a:prstGeom>
          <a:ln w="50800">
            <a:solidFill>
              <a:srgbClr val="000000"/>
            </a:solidFill>
            <a:tailEnd type="triangle" w="med" len="med"/>
          </a:ln>
        </p:spPr>
      </p:cxnSp>
      <p:sp>
        <p:nvSpPr>
          <p:cNvPr id="76" name="qa desc"/>
          <p:cNvSpPr/>
          <p:nvPr/>
        </p:nvSpPr>
        <p:spPr>
          <a:xfrm>
            <a:off x="15937992" y="585216"/>
            <a:ext cx="2084832" cy="420624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950" b="1">
                <a:solidFill>
                  <a:srgbClr val="1B2430"/>
                </a:solidFill>
                <a:latin typeface="Arial"/>
              </a:rPr>
              <a:t>High-quality, image-grounded</a:t>
            </a:r>
            <a:br/>
            <a:r>
              <a:rPr lang="en-US" sz="950" b="1">
                <a:solidFill>
                  <a:srgbClr val="1B2430"/>
                </a:solidFill>
                <a:latin typeface="Arial"/>
              </a:rPr>
              <a:t>question-answer pairs.</a:t>
            </a:r>
          </a:p>
        </p:txBody>
      </p:sp>
      <p:sp>
        <p:nvSpPr>
          <p:cNvPr id="77" name="qa card 0"/>
          <p:cNvSpPr/>
          <p:nvPr/>
        </p:nvSpPr>
        <p:spPr>
          <a:xfrm>
            <a:off x="15928848" y="1097280"/>
            <a:ext cx="208483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EE8"/>
            </a:solidFill>
          </a:ln>
        </p:spPr>
      </p:sp>
      <p:sp>
        <p:nvSpPr>
          <p:cNvPr id="78" name="qa q 0"/>
          <p:cNvSpPr/>
          <p:nvPr/>
        </p:nvSpPr>
        <p:spPr>
          <a:xfrm>
            <a:off x="16056864" y="1207008"/>
            <a:ext cx="14264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40" b="1">
                <a:solidFill>
                  <a:srgbClr val="1B2430"/>
                </a:solidFill>
                <a:latin typeface="Arial"/>
              </a:rPr>
              <a:t>Q: Which bench is closest to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the agent (clock)?</a:t>
            </a:r>
          </a:p>
        </p:txBody>
      </p:sp>
      <p:sp>
        <p:nvSpPr>
          <p:cNvPr id="79" name="qa a 0"/>
          <p:cNvSpPr/>
          <p:nvPr/>
        </p:nvSpPr>
        <p:spPr>
          <a:xfrm>
            <a:off x="16056864" y="1691640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770" b="1">
                <a:solidFill>
                  <a:srgbClr val="1B2430"/>
                </a:solidFill>
                <a:latin typeface="Arial"/>
              </a:rPr>
              <a:t>A: 3</a:t>
            </a:r>
          </a:p>
        </p:txBody>
      </p:sp>
      <p:sp>
        <p:nvSpPr>
          <p:cNvPr id="80" name="qa tag 0"/>
          <p:cNvSpPr/>
          <p:nvPr/>
        </p:nvSpPr>
        <p:spPr>
          <a:xfrm>
            <a:off x="17209008" y="1664208"/>
            <a:ext cx="658368" cy="237744"/>
          </a:xfrm>
          <a:prstGeom prst="roundRect">
            <a:avLst/>
          </a:prstGeom>
          <a:solidFill>
            <a:srgbClr val="B9D4FF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00" b="1">
                <a:solidFill>
                  <a:srgbClr val="3A6FB4"/>
                </a:solidFill>
                <a:latin typeface="Arial"/>
              </a:rPr>
              <a:t>Closest</a:t>
            </a:r>
          </a:p>
        </p:txBody>
      </p:sp>
      <p:sp>
        <p:nvSpPr>
          <p:cNvPr id="81" name="qa card 1"/>
          <p:cNvSpPr/>
          <p:nvPr/>
        </p:nvSpPr>
        <p:spPr>
          <a:xfrm>
            <a:off x="15928848" y="2121408"/>
            <a:ext cx="208483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EE8"/>
            </a:solidFill>
          </a:ln>
        </p:spPr>
      </p:sp>
      <p:sp>
        <p:nvSpPr>
          <p:cNvPr id="82" name="qa q 1"/>
          <p:cNvSpPr/>
          <p:nvPr/>
        </p:nvSpPr>
        <p:spPr>
          <a:xfrm>
            <a:off x="16056864" y="2231136"/>
            <a:ext cx="14264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40" b="1">
                <a:solidFill>
                  <a:srgbClr val="1B2430"/>
                </a:solidFill>
                <a:latin typeface="Arial"/>
              </a:rPr>
              <a:t>Q: Which is closer to the agent,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stop sign #1 or stop sign #2?</a:t>
            </a:r>
          </a:p>
        </p:txBody>
      </p:sp>
      <p:sp>
        <p:nvSpPr>
          <p:cNvPr id="83" name="qa a 1"/>
          <p:cNvSpPr/>
          <p:nvPr/>
        </p:nvSpPr>
        <p:spPr>
          <a:xfrm>
            <a:off x="16056864" y="2715768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770" b="1">
                <a:solidFill>
                  <a:srgbClr val="1B2430"/>
                </a:solidFill>
                <a:latin typeface="Arial"/>
              </a:rPr>
              <a:t>A: 2</a:t>
            </a:r>
          </a:p>
        </p:txBody>
      </p:sp>
      <p:sp>
        <p:nvSpPr>
          <p:cNvPr id="84" name="qa tag 1"/>
          <p:cNvSpPr/>
          <p:nvPr/>
        </p:nvSpPr>
        <p:spPr>
          <a:xfrm>
            <a:off x="17209008" y="2688336"/>
            <a:ext cx="658368" cy="237744"/>
          </a:xfrm>
          <a:prstGeom prst="roundRect">
            <a:avLst/>
          </a:prstGeom>
          <a:solidFill>
            <a:srgbClr val="D9EFCB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00" b="1">
                <a:solidFill>
                  <a:srgbClr val="4D7F34"/>
                </a:solidFill>
                <a:latin typeface="Arial"/>
              </a:rPr>
              <a:t>Pairwise</a:t>
            </a:r>
          </a:p>
        </p:txBody>
      </p:sp>
      <p:sp>
        <p:nvSpPr>
          <p:cNvPr id="85" name="qa card 2"/>
          <p:cNvSpPr/>
          <p:nvPr/>
        </p:nvSpPr>
        <p:spPr>
          <a:xfrm>
            <a:off x="15928848" y="3145536"/>
            <a:ext cx="208483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EE8"/>
            </a:solidFill>
          </a:ln>
        </p:spPr>
      </p:sp>
      <p:sp>
        <p:nvSpPr>
          <p:cNvPr id="86" name="qa q 2"/>
          <p:cNvSpPr/>
          <p:nvPr/>
        </p:nvSpPr>
        <p:spPr>
          <a:xfrm>
            <a:off x="16056864" y="3255264"/>
            <a:ext cx="14264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40" b="1">
                <a:solidFill>
                  <a:srgbClr val="1B2430"/>
                </a:solidFill>
                <a:latin typeface="Arial"/>
              </a:rPr>
              <a:t>Q: What is the relative direction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of stop sign #3 to the agent?</a:t>
            </a:r>
          </a:p>
        </p:txBody>
      </p:sp>
      <p:sp>
        <p:nvSpPr>
          <p:cNvPr id="87" name="qa a 2"/>
          <p:cNvSpPr/>
          <p:nvPr/>
        </p:nvSpPr>
        <p:spPr>
          <a:xfrm>
            <a:off x="16056864" y="3739896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770" b="1">
                <a:solidFill>
                  <a:srgbClr val="1B2430"/>
                </a:solidFill>
                <a:latin typeface="Arial"/>
              </a:rPr>
              <a:t>A: Northeast</a:t>
            </a:r>
          </a:p>
        </p:txBody>
      </p:sp>
      <p:sp>
        <p:nvSpPr>
          <p:cNvPr id="88" name="qa tag 2"/>
          <p:cNvSpPr/>
          <p:nvPr/>
        </p:nvSpPr>
        <p:spPr>
          <a:xfrm>
            <a:off x="17209008" y="3712464"/>
            <a:ext cx="658368" cy="237744"/>
          </a:xfrm>
          <a:prstGeom prst="roundRect">
            <a:avLst/>
          </a:prstGeom>
          <a:solidFill>
            <a:srgbClr val="FFE5C6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00" b="1">
                <a:solidFill>
                  <a:srgbClr val="C7782D"/>
                </a:solidFill>
                <a:latin typeface="Arial"/>
              </a:rPr>
              <a:t>Direction</a:t>
            </a:r>
          </a:p>
        </p:txBody>
      </p:sp>
      <p:sp>
        <p:nvSpPr>
          <p:cNvPr id="89" name="qa card 3"/>
          <p:cNvSpPr/>
          <p:nvPr/>
        </p:nvSpPr>
        <p:spPr>
          <a:xfrm>
            <a:off x="15928848" y="4169664"/>
            <a:ext cx="208483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EE8"/>
            </a:solidFill>
          </a:ln>
        </p:spPr>
      </p:sp>
      <p:sp>
        <p:nvSpPr>
          <p:cNvPr id="90" name="qa q 3"/>
          <p:cNvSpPr/>
          <p:nvPr/>
        </p:nvSpPr>
        <p:spPr>
          <a:xfrm>
            <a:off x="16056864" y="4279392"/>
            <a:ext cx="14264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40" b="1">
                <a:solidFill>
                  <a:srgbClr val="1B2430"/>
                </a:solidFill>
                <a:latin typeface="Arial"/>
              </a:rPr>
              <a:t>Q: To face bench #4, should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the agent turn left, turn right,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or is it already facing it?</a:t>
            </a:r>
          </a:p>
        </p:txBody>
      </p:sp>
      <p:sp>
        <p:nvSpPr>
          <p:cNvPr id="91" name="qa a 3"/>
          <p:cNvSpPr/>
          <p:nvPr/>
        </p:nvSpPr>
        <p:spPr>
          <a:xfrm>
            <a:off x="16056864" y="4764024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770" b="1">
                <a:solidFill>
                  <a:srgbClr val="1B2430"/>
                </a:solidFill>
                <a:latin typeface="Arial"/>
              </a:rPr>
              <a:t>A: Turn left</a:t>
            </a:r>
          </a:p>
        </p:txBody>
      </p:sp>
      <p:sp>
        <p:nvSpPr>
          <p:cNvPr id="92" name="qa tag 3"/>
          <p:cNvSpPr/>
          <p:nvPr/>
        </p:nvSpPr>
        <p:spPr>
          <a:xfrm>
            <a:off x="17209008" y="4736592"/>
            <a:ext cx="658368" cy="237744"/>
          </a:xfrm>
          <a:prstGeom prst="roundRect">
            <a:avLst/>
          </a:prstGeom>
          <a:solidFill>
            <a:srgbClr val="E2D4FF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00" b="1">
                <a:solidFill>
                  <a:srgbClr val="7158BB"/>
                </a:solidFill>
                <a:latin typeface="Arial"/>
              </a:rPr>
              <a:t>Heading</a:t>
            </a:r>
          </a:p>
        </p:txBody>
      </p:sp>
      <p:sp>
        <p:nvSpPr>
          <p:cNvPr id="93" name="qa card 4"/>
          <p:cNvSpPr/>
          <p:nvPr/>
        </p:nvSpPr>
        <p:spPr>
          <a:xfrm>
            <a:off x="15928848" y="5193792"/>
            <a:ext cx="2084832" cy="95097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DEE8"/>
            </a:solidFill>
          </a:ln>
        </p:spPr>
      </p:sp>
      <p:sp>
        <p:nvSpPr>
          <p:cNvPr id="94" name="qa q 4"/>
          <p:cNvSpPr/>
          <p:nvPr/>
        </p:nvSpPr>
        <p:spPr>
          <a:xfrm>
            <a:off x="16056864" y="5303520"/>
            <a:ext cx="142646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op">
            <a:spAutoFit/>
          </a:bodyPr>
          <a:lstStyle/>
          <a:p>
            <a:pPr algn="l"/>
            <a:r>
              <a:rPr lang="en-US" sz="740" b="1">
                <a:solidFill>
                  <a:srgbClr val="1B2430"/>
                </a:solidFill>
                <a:latin typeface="Arial"/>
              </a:rPr>
              <a:t>Q: The agent is facing the closest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bench and wants to reach it.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Should it keep straight, turn left,</a:t>
            </a:r>
            <a:br/>
            <a:r>
              <a:rPr lang="en-US" sz="740" b="1">
                <a:solidFill>
                  <a:srgbClr val="1B2430"/>
                </a:solidFill>
                <a:latin typeface="Arial"/>
              </a:rPr>
              <a:t>or turn right?</a:t>
            </a:r>
          </a:p>
        </p:txBody>
      </p:sp>
      <p:sp>
        <p:nvSpPr>
          <p:cNvPr id="95" name="qa a 4"/>
          <p:cNvSpPr/>
          <p:nvPr/>
        </p:nvSpPr>
        <p:spPr>
          <a:xfrm>
            <a:off x="16056864" y="5788152"/>
            <a:ext cx="841248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770" b="1">
                <a:solidFill>
                  <a:srgbClr val="1B2430"/>
                </a:solidFill>
                <a:latin typeface="Arial"/>
              </a:rPr>
              <a:t>A: Turn right</a:t>
            </a:r>
          </a:p>
        </p:txBody>
      </p:sp>
      <p:sp>
        <p:nvSpPr>
          <p:cNvPr id="96" name="qa tag 4"/>
          <p:cNvSpPr/>
          <p:nvPr/>
        </p:nvSpPr>
        <p:spPr>
          <a:xfrm>
            <a:off x="17209008" y="5760720"/>
            <a:ext cx="658368" cy="237744"/>
          </a:xfrm>
          <a:prstGeom prst="roundRect">
            <a:avLst/>
          </a:prstGeom>
          <a:solidFill>
            <a:srgbClr val="FFD6D6"/>
          </a:solidFill>
          <a:ln w="10160">
            <a:solidFill>
              <a:srgbClr val="CED6E2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700" b="1">
                <a:solidFill>
                  <a:srgbClr val="C65A5A"/>
                </a:solidFill>
                <a:latin typeface="Arial"/>
              </a:rPr>
              <a:t>Avoidance</a:t>
            </a:r>
          </a:p>
        </p:txBody>
      </p:sp>
      <p:sp>
        <p:nvSpPr>
          <p:cNvPr id="97" name="more dots"/>
          <p:cNvSpPr/>
          <p:nvPr/>
        </p:nvSpPr>
        <p:spPr>
          <a:xfrm>
            <a:off x="16852392" y="6355080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 b="1">
                <a:solidFill>
                  <a:srgbClr val="1B2430"/>
                </a:solidFill>
                <a:latin typeface="Arial"/>
              </a:rPr>
              <a:t>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Zoo-Bus-VQA Generation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Zoo-Bus-VQA Generation Pipeline</dc:title>
  <dc:creator>Codex</dc:creator>
  <cp:lastModifiedBy>Codex</cp:lastModifiedBy>
  <dcterms:created xsi:type="dcterms:W3CDTF">2026-05-24T05:42:50Z</dcterms:created>
  <dcterms:modified xsi:type="dcterms:W3CDTF">2026-05-24T05:42:50Z</dcterms:modified>
</cp:coreProperties>
</file>