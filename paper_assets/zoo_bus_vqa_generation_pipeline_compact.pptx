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8288000" cy="6858000" type="custom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jpg"/><Relationship Id="rId16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8288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Card"/>
          <p:cNvSpPr/>
          <p:nvPr/>
        </p:nvSpPr>
        <p:spPr>
          <a:xfrm>
            <a:off x="91440" y="109728"/>
            <a:ext cx="2468880" cy="6565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C"/>
            </a:solidFill>
          </a:ln>
        </p:spPr>
      </p:sp>
      <p:sp>
        <p:nvSpPr>
          <p:cNvPr id="4" name="TitleBar"/>
          <p:cNvSpPr/>
          <p:nvPr/>
        </p:nvSpPr>
        <p:spPr>
          <a:xfrm>
            <a:off x="91440" y="109728"/>
            <a:ext cx="2468880" cy="475488"/>
          </a:xfrm>
          <a:prstGeom prst="roundRect">
            <a:avLst/>
          </a:prstGeom>
          <a:solidFill>
            <a:srgbClr val="EAF3FE"/>
          </a:solidFill>
          <a:ln w="13970">
            <a:solidFill>
              <a:srgbClr val="B8CCE5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80" b="1">
                <a:solidFill>
                  <a:srgbClr val="1B2430"/>
                </a:solidFill>
                <a:latin typeface="Arial"/>
              </a:rPr>
              <a:t>1. Object Library</a:t>
            </a:r>
          </a:p>
        </p:txBody>
      </p:sp>
      <p:sp>
        <p:nvSpPr>
          <p:cNvPr id="5" name="Card"/>
          <p:cNvSpPr/>
          <p:nvPr/>
        </p:nvSpPr>
        <p:spPr>
          <a:xfrm>
            <a:off x="2788920" y="109728"/>
            <a:ext cx="4800600" cy="6565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C"/>
            </a:solidFill>
          </a:ln>
        </p:spPr>
      </p:sp>
      <p:sp>
        <p:nvSpPr>
          <p:cNvPr id="6" name="TitleBar"/>
          <p:cNvSpPr/>
          <p:nvPr/>
        </p:nvSpPr>
        <p:spPr>
          <a:xfrm>
            <a:off x="2788920" y="109728"/>
            <a:ext cx="4800600" cy="475488"/>
          </a:xfrm>
          <a:prstGeom prst="roundRect">
            <a:avLst/>
          </a:prstGeom>
          <a:solidFill>
            <a:srgbClr val="EEF7EA"/>
          </a:solidFill>
          <a:ln w="13970">
            <a:solidFill>
              <a:srgbClr val="C7DDBF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80" b="1">
                <a:solidFill>
                  <a:srgbClr val="1B2430"/>
                </a:solidFill>
                <a:latin typeface="Arial"/>
              </a:rPr>
              <a:t>2. Scene Synthesis</a:t>
            </a:r>
          </a:p>
        </p:txBody>
      </p:sp>
      <p:sp>
        <p:nvSpPr>
          <p:cNvPr id="7" name="Card"/>
          <p:cNvSpPr/>
          <p:nvPr/>
        </p:nvSpPr>
        <p:spPr>
          <a:xfrm>
            <a:off x="7827264" y="109728"/>
            <a:ext cx="4800600" cy="6565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C"/>
            </a:solidFill>
          </a:ln>
        </p:spPr>
      </p:sp>
      <p:sp>
        <p:nvSpPr>
          <p:cNvPr id="8" name="TitleBar"/>
          <p:cNvSpPr/>
          <p:nvPr/>
        </p:nvSpPr>
        <p:spPr>
          <a:xfrm>
            <a:off x="7827264" y="109728"/>
            <a:ext cx="4800600" cy="475488"/>
          </a:xfrm>
          <a:prstGeom prst="roundRect">
            <a:avLst/>
          </a:prstGeom>
          <a:solidFill>
            <a:srgbClr val="FFF7DE"/>
          </a:solidFill>
          <a:ln w="13970">
            <a:solidFill>
              <a:srgbClr val="E5D394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80" b="1">
                <a:solidFill>
                  <a:srgbClr val="1B2430"/>
                </a:solidFill>
                <a:latin typeface="Arial"/>
              </a:rPr>
              <a:t>3. Detector-in-the-loop</a:t>
            </a:r>
            <a:br/>
            <a:r>
              <a:rPr lang="en-US" sz="1280" b="1">
                <a:solidFill>
                  <a:srgbClr val="1B2430"/>
                </a:solidFill>
                <a:latin typeface="Arial"/>
              </a:rPr>
              <a:t>Quality Check</a:t>
            </a:r>
          </a:p>
        </p:txBody>
      </p:sp>
      <p:sp>
        <p:nvSpPr>
          <p:cNvPr id="9" name="Card"/>
          <p:cNvSpPr/>
          <p:nvPr/>
        </p:nvSpPr>
        <p:spPr>
          <a:xfrm>
            <a:off x="12856464" y="109728"/>
            <a:ext cx="2606040" cy="6565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C"/>
            </a:solidFill>
          </a:ln>
        </p:spPr>
      </p:sp>
      <p:sp>
        <p:nvSpPr>
          <p:cNvPr id="10" name="TitleBar"/>
          <p:cNvSpPr/>
          <p:nvPr/>
        </p:nvSpPr>
        <p:spPr>
          <a:xfrm>
            <a:off x="12856464" y="109728"/>
            <a:ext cx="2606040" cy="475488"/>
          </a:xfrm>
          <a:prstGeom prst="roundRect">
            <a:avLst/>
          </a:prstGeom>
          <a:solidFill>
            <a:srgbClr val="F2EEF9"/>
          </a:solidFill>
          <a:ln w="13970">
            <a:solidFill>
              <a:srgbClr val="CEC1DE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80" b="1">
                <a:solidFill>
                  <a:srgbClr val="1B2430"/>
                </a:solidFill>
                <a:latin typeface="Arial"/>
              </a:rPr>
              <a:t>4. GRAID-based</a:t>
            </a:r>
            <a:br/>
            <a:r>
              <a:rPr lang="en-US" sz="1280" b="1">
                <a:solidFill>
                  <a:srgbClr val="1B2430"/>
                </a:solidFill>
                <a:latin typeface="Arial"/>
              </a:rPr>
              <a:t>QA Generation</a:t>
            </a:r>
          </a:p>
        </p:txBody>
      </p:sp>
      <p:sp>
        <p:nvSpPr>
          <p:cNvPr id="11" name="Card"/>
          <p:cNvSpPr/>
          <p:nvPr/>
        </p:nvSpPr>
        <p:spPr>
          <a:xfrm>
            <a:off x="15681960" y="109728"/>
            <a:ext cx="2514600" cy="6565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C"/>
            </a:solidFill>
          </a:ln>
        </p:spPr>
      </p:sp>
      <p:sp>
        <p:nvSpPr>
          <p:cNvPr id="12" name="TitleBar"/>
          <p:cNvSpPr/>
          <p:nvPr/>
        </p:nvSpPr>
        <p:spPr>
          <a:xfrm>
            <a:off x="15681960" y="109728"/>
            <a:ext cx="2514600" cy="475488"/>
          </a:xfrm>
          <a:prstGeom prst="roundRect">
            <a:avLst/>
          </a:prstGeom>
          <a:solidFill>
            <a:srgbClr val="EEF5FE"/>
          </a:solidFill>
          <a:ln w="13970">
            <a:solidFill>
              <a:srgbClr val="B8CCE5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80" b="1">
                <a:solidFill>
                  <a:srgbClr val="1B2430"/>
                </a:solidFill>
                <a:latin typeface="Arial"/>
              </a:rPr>
              <a:t>5. QA Pairs Output</a:t>
            </a:r>
          </a:p>
        </p:txBody>
      </p:sp>
      <p:sp>
        <p:nvSpPr>
          <p:cNvPr id="13" name="Benches (3-5)"/>
          <p:cNvSpPr/>
          <p:nvPr/>
        </p:nvSpPr>
        <p:spPr>
          <a:xfrm>
            <a:off x="155448" y="603504"/>
            <a:ext cx="2331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120" b="1">
                <a:solidFill>
                  <a:srgbClr val="1B2430"/>
                </a:solidFill>
                <a:latin typeface="Arial"/>
              </a:rPr>
              <a:t>Benches (3-5)</a:t>
            </a:r>
          </a:p>
        </p:txBody>
      </p:sp>
      <p:sp>
        <p:nvSpPr>
          <p:cNvPr id="14" name="Stop Signs (2-3)"/>
          <p:cNvSpPr/>
          <p:nvPr/>
        </p:nvSpPr>
        <p:spPr>
          <a:xfrm>
            <a:off x="155448" y="1344168"/>
            <a:ext cx="2331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120" b="1">
                <a:solidFill>
                  <a:srgbClr val="1B2430"/>
                </a:solidFill>
                <a:latin typeface="Arial"/>
              </a:rPr>
              <a:t>Stop Signs (2-3)</a:t>
            </a:r>
          </a:p>
        </p:txBody>
      </p:sp>
      <p:sp>
        <p:nvSpPr>
          <p:cNvPr id="15" name="People (0-3 per bench)"/>
          <p:cNvSpPr/>
          <p:nvPr/>
        </p:nvSpPr>
        <p:spPr>
          <a:xfrm>
            <a:off x="155448" y="2157984"/>
            <a:ext cx="2331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120" b="1">
                <a:solidFill>
                  <a:srgbClr val="1B2430"/>
                </a:solidFill>
                <a:latin typeface="Arial"/>
              </a:rPr>
              <a:t>People (0-3 per bench)</a:t>
            </a:r>
          </a:p>
        </p:txBody>
      </p:sp>
      <p:sp>
        <p:nvSpPr>
          <p:cNvPr id="16" name="Animals (2-5 per stop sign)"/>
          <p:cNvSpPr/>
          <p:nvPr/>
        </p:nvSpPr>
        <p:spPr>
          <a:xfrm>
            <a:off x="155448" y="3145536"/>
            <a:ext cx="2331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120" b="1">
                <a:solidFill>
                  <a:srgbClr val="1B2430"/>
                </a:solidFill>
                <a:latin typeface="Arial"/>
              </a:rPr>
              <a:t>Animals (2-5 per stop sign)</a:t>
            </a:r>
          </a:p>
        </p:txBody>
      </p:sp>
      <p:sp>
        <p:nvSpPr>
          <p:cNvPr id="17" name="Agent (1)"/>
          <p:cNvSpPr/>
          <p:nvPr/>
        </p:nvSpPr>
        <p:spPr>
          <a:xfrm>
            <a:off x="155448" y="4133088"/>
            <a:ext cx="2331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120" b="1">
                <a:solidFill>
                  <a:srgbClr val="1B2430"/>
                </a:solidFill>
                <a:latin typeface="Arial"/>
              </a:rPr>
              <a:t>Agent (1)</a:t>
            </a:r>
          </a:p>
        </p:txBody>
      </p:sp>
      <p:pic>
        <p:nvPicPr>
          <p:cNvPr id="18" name="benc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50392"/>
            <a:ext cx="548640" cy="329184"/>
          </a:xfrm>
          <a:prstGeom prst="rect">
            <a:avLst/>
          </a:prstGeom>
        </p:spPr>
      </p:pic>
      <p:pic>
        <p:nvPicPr>
          <p:cNvPr id="19" name="ben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50392"/>
            <a:ext cx="548640" cy="329184"/>
          </a:xfrm>
          <a:prstGeom prst="rect">
            <a:avLst/>
          </a:prstGeom>
        </p:spPr>
      </p:pic>
      <p:pic>
        <p:nvPicPr>
          <p:cNvPr id="20" name="ben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850392"/>
            <a:ext cx="548640" cy="329184"/>
          </a:xfrm>
          <a:prstGeom prst="rect">
            <a:avLst/>
          </a:prstGeom>
        </p:spPr>
      </p:pic>
      <p:sp>
        <p:nvSpPr>
          <p:cNvPr id="21" name="dots"/>
          <p:cNvSpPr/>
          <p:nvPr/>
        </p:nvSpPr>
        <p:spPr>
          <a:xfrm>
            <a:off x="1938528" y="914400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100" b="1">
                <a:solidFill>
                  <a:srgbClr val="1B2430"/>
                </a:solidFill>
                <a:latin typeface="Arial"/>
              </a:rPr>
              <a:t>...</a:t>
            </a:r>
          </a:p>
        </p:txBody>
      </p:sp>
      <p:pic>
        <p:nvPicPr>
          <p:cNvPr id="22" name="st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572768"/>
            <a:ext cx="365760" cy="365760"/>
          </a:xfrm>
          <a:prstGeom prst="rect">
            <a:avLst/>
          </a:prstGeom>
        </p:spPr>
      </p:pic>
      <p:pic>
        <p:nvPicPr>
          <p:cNvPr id="23" name="sto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1572768"/>
            <a:ext cx="365760" cy="365760"/>
          </a:xfrm>
          <a:prstGeom prst="rect">
            <a:avLst/>
          </a:prstGeom>
        </p:spPr>
      </p:pic>
      <p:pic>
        <p:nvPicPr>
          <p:cNvPr id="24" name="sto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3312" y="1572768"/>
            <a:ext cx="365760" cy="365760"/>
          </a:xfrm>
          <a:prstGeom prst="rect">
            <a:avLst/>
          </a:prstGeom>
        </p:spPr>
      </p:pic>
      <p:sp>
        <p:nvSpPr>
          <p:cNvPr id="25" name="dots"/>
          <p:cNvSpPr/>
          <p:nvPr/>
        </p:nvSpPr>
        <p:spPr>
          <a:xfrm>
            <a:off x="1938528" y="16824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100" b="1">
                <a:solidFill>
                  <a:srgbClr val="1B2430"/>
                </a:solidFill>
                <a:latin typeface="Arial"/>
              </a:rPr>
              <a:t>...</a:t>
            </a:r>
          </a:p>
        </p:txBody>
      </p:sp>
      <p:pic>
        <p:nvPicPr>
          <p:cNvPr id="26" name="pers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" y="2386584"/>
            <a:ext cx="256032" cy="475488"/>
          </a:xfrm>
          <a:prstGeom prst="rect">
            <a:avLst/>
          </a:prstGeom>
        </p:spPr>
      </p:pic>
      <p:pic>
        <p:nvPicPr>
          <p:cNvPr id="27" name="pers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" y="2386584"/>
            <a:ext cx="256032" cy="475488"/>
          </a:xfrm>
          <a:prstGeom prst="rect">
            <a:avLst/>
          </a:prstGeom>
        </p:spPr>
      </p:pic>
      <p:pic>
        <p:nvPicPr>
          <p:cNvPr id="28" name="pers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696" y="2386584"/>
            <a:ext cx="256032" cy="475488"/>
          </a:xfrm>
          <a:prstGeom prst="rect">
            <a:avLst/>
          </a:prstGeom>
        </p:spPr>
      </p:pic>
      <p:pic>
        <p:nvPicPr>
          <p:cNvPr id="29" name="pers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456" y="2386584"/>
            <a:ext cx="256032" cy="475488"/>
          </a:xfrm>
          <a:prstGeom prst="rect">
            <a:avLst/>
          </a:prstGeom>
        </p:spPr>
      </p:pic>
      <p:sp>
        <p:nvSpPr>
          <p:cNvPr id="30" name="dots"/>
          <p:cNvSpPr/>
          <p:nvPr/>
        </p:nvSpPr>
        <p:spPr>
          <a:xfrm>
            <a:off x="1938528" y="2578608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100" b="1">
                <a:solidFill>
                  <a:srgbClr val="1B2430"/>
                </a:solidFill>
                <a:latin typeface="Arial"/>
              </a:rPr>
              <a:t>...</a:t>
            </a:r>
          </a:p>
        </p:txBody>
      </p:sp>
      <p:pic>
        <p:nvPicPr>
          <p:cNvPr id="31" name="elephan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3410712"/>
            <a:ext cx="475488" cy="384048"/>
          </a:xfrm>
          <a:prstGeom prst="rect">
            <a:avLst/>
          </a:prstGeom>
        </p:spPr>
      </p:pic>
      <p:pic>
        <p:nvPicPr>
          <p:cNvPr id="32" name="giraff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680" y="3383280"/>
            <a:ext cx="374904" cy="393192"/>
          </a:xfrm>
          <a:prstGeom prst="rect">
            <a:avLst/>
          </a:prstGeom>
        </p:spPr>
      </p:pic>
      <p:pic>
        <p:nvPicPr>
          <p:cNvPr id="33" name="zebra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90472" y="3401568"/>
            <a:ext cx="438912" cy="393192"/>
          </a:xfrm>
          <a:prstGeom prst="rect">
            <a:avLst/>
          </a:prstGeom>
        </p:spPr>
      </p:pic>
      <p:sp>
        <p:nvSpPr>
          <p:cNvPr id="34" name="dots"/>
          <p:cNvSpPr/>
          <p:nvPr/>
        </p:nvSpPr>
        <p:spPr>
          <a:xfrm>
            <a:off x="676656" y="3547872"/>
            <a:ext cx="164592" cy="1371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100" b="1">
                <a:solidFill>
                  <a:srgbClr val="1B2430"/>
                </a:solidFill>
                <a:latin typeface="Arial"/>
              </a:rPr>
              <a:t>...</a:t>
            </a:r>
          </a:p>
        </p:txBody>
      </p:sp>
      <p:sp>
        <p:nvSpPr>
          <p:cNvPr id="35" name="dots"/>
          <p:cNvSpPr/>
          <p:nvPr/>
        </p:nvSpPr>
        <p:spPr>
          <a:xfrm>
            <a:off x="1261872" y="3547872"/>
            <a:ext cx="164592" cy="1371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100" b="1">
                <a:solidFill>
                  <a:srgbClr val="1B2430"/>
                </a:solidFill>
                <a:latin typeface="Arial"/>
              </a:rPr>
              <a:t>...</a:t>
            </a:r>
          </a:p>
        </p:txBody>
      </p:sp>
      <p:pic>
        <p:nvPicPr>
          <p:cNvPr id="36" name="clock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6384" y="4361688"/>
            <a:ext cx="548640" cy="548640"/>
          </a:xfrm>
          <a:prstGeom prst="rect">
            <a:avLst/>
          </a:prstGeom>
        </p:spPr>
      </p:pic>
      <p:sp>
        <p:nvSpPr>
          <p:cNvPr id="37" name="heading dot"/>
          <p:cNvSpPr/>
          <p:nvPr/>
        </p:nvSpPr>
        <p:spPr>
          <a:xfrm>
            <a:off x="1417320" y="4608576"/>
            <a:ext cx="146304" cy="146304"/>
          </a:xfrm>
          <a:prstGeom prst="ellipse">
            <a:avLst/>
          </a:prstGeom>
          <a:solidFill>
            <a:srgbClr val="E42522"/>
          </a:solidFill>
          <a:ln w="10160">
            <a:solidFill>
              <a:srgbClr val="A01616"/>
            </a:solidFill>
          </a:ln>
        </p:spPr>
      </p:sp>
      <p:sp>
        <p:nvSpPr>
          <p:cNvPr id="38" name="legend dot"/>
          <p:cNvSpPr/>
          <p:nvPr/>
        </p:nvSpPr>
        <p:spPr>
          <a:xfrm>
            <a:off x="365760" y="6181344"/>
            <a:ext cx="118872" cy="118872"/>
          </a:xfrm>
          <a:prstGeom prst="ellipse">
            <a:avLst/>
          </a:prstGeom>
          <a:solidFill>
            <a:srgbClr val="E42522"/>
          </a:solidFill>
          <a:ln w="10160">
            <a:solidFill>
              <a:srgbClr val="A01616"/>
            </a:solidFill>
          </a:ln>
        </p:spPr>
      </p:sp>
      <p:sp>
        <p:nvSpPr>
          <p:cNvPr id="39" name="legend"/>
          <p:cNvSpPr/>
          <p:nvPr/>
        </p:nvSpPr>
        <p:spPr>
          <a:xfrm>
            <a:off x="512064" y="6126480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869" b="1">
                <a:solidFill>
                  <a:srgbClr val="1B2430"/>
                </a:solidFill>
                <a:latin typeface="Arial"/>
              </a:rPr>
              <a:t>Heading indicator (red dot)</a:t>
            </a:r>
          </a:p>
        </p:txBody>
      </p:sp>
      <p:sp>
        <p:nvSpPr>
          <p:cNvPr id="100" name="object curved arrow"/>
          <p:cNvSpPr/>
          <p:nvPr/>
        </p:nvSpPr>
        <p:spPr>
          <a:xfrm>
            <a:off x="2414016" y="859536"/>
            <a:ext cx="365760" cy="402336"/>
          </a:xfrm>
          <a:custGeom>
            <a:avLst/>
            <a:gdLst/>
            <a:ahLst/>
            <a:cxnLst/>
            <a:rect l="0" t="0" r="0" b="0"/>
            <a:pathLst>
              <a:path w="365760" h="402336">
                <a:moveTo>
                  <a:pt x="18288" y="73152"/>
                </a:moveTo>
                <a:quadBezTo>
                  <a:pt x="274320" y="18288"/>
                  <a:pt x="347472" y="384048"/>
                </a:quadBezTo>
              </a:path>
            </a:pathLst>
          </a:custGeom>
          <a:noFill/>
          <a:ln w="36830">
            <a:solidFill>
              <a:srgbClr val="000000"/>
            </a:solidFill>
            <a:tailEnd type="triangle" w="med" len="med"/>
          </a:ln>
        </p:spPr>
      </p:sp>
      <p:sp>
        <p:nvSpPr>
          <p:cNvPr id="101" name="object curved arrow"/>
          <p:cNvSpPr/>
          <p:nvPr/>
        </p:nvSpPr>
        <p:spPr>
          <a:xfrm>
            <a:off x="2414016" y="1682496"/>
            <a:ext cx="365760" cy="329184"/>
          </a:xfrm>
          <a:custGeom>
            <a:avLst/>
            <a:gdLst/>
            <a:ahLst/>
            <a:cxnLst/>
            <a:rect l="0" t="0" r="0" b="0"/>
            <a:pathLst>
              <a:path w="365760" h="329184">
                <a:moveTo>
                  <a:pt x="18288" y="18288"/>
                </a:moveTo>
                <a:quadBezTo>
                  <a:pt x="265176" y="36576"/>
                  <a:pt x="347472" y="310896"/>
                </a:quadBezTo>
              </a:path>
            </a:pathLst>
          </a:custGeom>
          <a:noFill/>
          <a:ln w="36830">
            <a:solidFill>
              <a:srgbClr val="000000"/>
            </a:solidFill>
            <a:tailEnd type="triangle" w="med" len="med"/>
          </a:ln>
        </p:spPr>
      </p:sp>
      <p:sp>
        <p:nvSpPr>
          <p:cNvPr id="102" name="object curved arrow"/>
          <p:cNvSpPr/>
          <p:nvPr/>
        </p:nvSpPr>
        <p:spPr>
          <a:xfrm>
            <a:off x="2414016" y="2496312"/>
            <a:ext cx="365760" cy="100584"/>
          </a:xfrm>
          <a:custGeom>
            <a:avLst/>
            <a:gdLst/>
            <a:ahLst/>
            <a:cxnLst/>
            <a:rect l="0" t="0" r="0" b="0"/>
            <a:pathLst>
              <a:path w="365760" h="100584">
                <a:moveTo>
                  <a:pt x="18288" y="27432"/>
                </a:moveTo>
                <a:quadBezTo>
                  <a:pt x="256032" y="18288"/>
                  <a:pt x="347472" y="82296"/>
                </a:quadBezTo>
              </a:path>
            </a:pathLst>
          </a:custGeom>
          <a:noFill/>
          <a:ln w="36830">
            <a:solidFill>
              <a:srgbClr val="000000"/>
            </a:solidFill>
            <a:tailEnd type="triangle" w="med" len="med"/>
          </a:ln>
        </p:spPr>
      </p:sp>
      <p:sp>
        <p:nvSpPr>
          <p:cNvPr id="103" name="object curved arrow"/>
          <p:cNvSpPr/>
          <p:nvPr/>
        </p:nvSpPr>
        <p:spPr>
          <a:xfrm>
            <a:off x="2414016" y="3163824"/>
            <a:ext cx="365760" cy="438912"/>
          </a:xfrm>
          <a:custGeom>
            <a:avLst/>
            <a:gdLst/>
            <a:ahLst/>
            <a:cxnLst/>
            <a:rect l="0" t="0" r="0" b="0"/>
            <a:pathLst>
              <a:path w="365760" h="438912">
                <a:moveTo>
                  <a:pt x="18288" y="420624"/>
                </a:moveTo>
                <a:quadBezTo>
                  <a:pt x="265176" y="329184"/>
                  <a:pt x="347472" y="18288"/>
                </a:quadBezTo>
              </a:path>
            </a:pathLst>
          </a:custGeom>
          <a:noFill/>
          <a:ln w="36830">
            <a:solidFill>
              <a:srgbClr val="000000"/>
            </a:solidFill>
            <a:tailEnd type="triangle" w="med" len="med"/>
          </a:ln>
        </p:spPr>
      </p:sp>
      <p:sp>
        <p:nvSpPr>
          <p:cNvPr id="40" name="scene headline"/>
          <p:cNvSpPr/>
          <p:nvPr/>
        </p:nvSpPr>
        <p:spPr>
          <a:xfrm>
            <a:off x="3017520" y="603504"/>
            <a:ext cx="4343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100" b="1">
                <a:solidFill>
                  <a:srgbClr val="1B2430"/>
                </a:solidFill>
                <a:latin typeface="Arial"/>
              </a:rPr>
              <a:t>Constrained scene rendering</a:t>
            </a:r>
            <a:br/>
            <a:r>
              <a:rPr lang="en-US" sz="1100" b="1">
                <a:solidFill>
                  <a:srgbClr val="1B2430"/>
                </a:solidFill>
                <a:latin typeface="Arial"/>
              </a:rPr>
              <a:t>Jittered layout · overlap checks · ID labels</a:t>
            </a:r>
          </a:p>
        </p:txBody>
      </p:sp>
      <p:pic>
        <p:nvPicPr>
          <p:cNvPr id="41" name="scen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44368" y="987552"/>
            <a:ext cx="4462272" cy="3346704"/>
          </a:xfrm>
          <a:prstGeom prst="rect">
            <a:avLst/>
          </a:prstGeom>
        </p:spPr>
      </p:pic>
      <p:sp>
        <p:nvSpPr>
          <p:cNvPr id="42" name="scene notes"/>
          <p:cNvSpPr/>
          <p:nvPr/>
        </p:nvSpPr>
        <p:spPr>
          <a:xfrm>
            <a:off x="2889504" y="4434840"/>
            <a:ext cx="4590288" cy="1115568"/>
          </a:xfrm>
          <a:prstGeom prst="roundRect">
            <a:avLst/>
          </a:prstGeom>
          <a:solidFill>
            <a:srgbClr val="EFF8E8"/>
          </a:solidFill>
          <a:ln w="12700">
            <a:solidFill>
              <a:srgbClr val="DAEBCF"/>
            </a:solidFill>
          </a:ln>
        </p:spPr>
      </p:sp>
      <p:sp>
        <p:nvSpPr>
          <p:cNvPr id="43" name="scene bullets"/>
          <p:cNvSpPr/>
          <p:nvPr/>
        </p:nvSpPr>
        <p:spPr>
          <a:xfrm>
            <a:off x="3072384" y="4553712"/>
            <a:ext cx="4187952" cy="822960"/>
          </a:xfrm>
          <a:prstGeom prst="rect">
            <a:avLst/>
          </a:prstGeom>
          <a:noFill/>
          <a:ln>
            <a:noFill/>
          </a:ln>
        </p:spPr>
        <p:txBody>
          <a:bodyPr wrap="square" anchor="top">
            <a:spAutoFit/>
          </a:bodyPr>
          <a:lstStyle/>
          <a:p>
            <a:pPr algn="l"/>
            <a:r>
              <a:rPr lang="en-US" sz="1000" b="1">
                <a:solidFill>
                  <a:srgbClr val="1B2430"/>
                </a:solidFill>
                <a:latin typeface="Arial"/>
              </a:rPr>
              <a:t>• jittered landmark layout</a:t>
            </a:r>
          </a:p>
          <a:p>
            <a:pPr algn="l"/>
            <a:r>
              <a:rPr lang="en-US" sz="1000" b="1">
                <a:solidFill>
                  <a:srgbClr val="1B2430"/>
                </a:solidFill>
                <a:latin typeface="Arial"/>
              </a:rPr>
              <a:t>• overlap and boundary checks</a:t>
            </a:r>
          </a:p>
          <a:p>
            <a:pPr algn="l"/>
            <a:r>
              <a:rPr lang="en-US" sz="1000" b="1">
                <a:solidFill>
                  <a:srgbClr val="1B2430"/>
                </a:solidFill>
                <a:latin typeface="Arial"/>
              </a:rPr>
              <a:t>• readable landmark IDs</a:t>
            </a:r>
          </a:p>
          <a:p>
            <a:pPr algn="l"/>
            <a:r>
              <a:rPr lang="en-US" sz="1000" b="1">
                <a:solidFill>
                  <a:srgbClr val="1B2430"/>
                </a:solidFill>
                <a:latin typeface="Arial"/>
              </a:rPr>
              <a:t>• valid agent placement</a:t>
            </a:r>
          </a:p>
        </p:txBody>
      </p:sp>
      <p:cxnSp>
        <p:nvCxnSpPr>
          <p:cNvPr id="44" name="main arrow"/>
          <p:cNvCxnSpPr/>
          <p:nvPr/>
        </p:nvCxnSpPr>
        <p:spPr>
          <a:xfrm>
            <a:off x="7607808" y="2834640"/>
            <a:ext cx="201168" cy="0"/>
          </a:xfrm>
          <a:prstGeom prst="line">
            <a:avLst/>
          </a:prstGeom>
          <a:ln w="53340">
            <a:solidFill>
              <a:srgbClr val="000000"/>
            </a:solidFill>
            <a:tailEnd type="triangle" w="med" len="med"/>
          </a:ln>
        </p:spPr>
      </p:cxnSp>
      <p:sp>
        <p:nvSpPr>
          <p:cNvPr id="45" name="det headline"/>
          <p:cNvSpPr/>
          <p:nvPr/>
        </p:nvSpPr>
        <p:spPr>
          <a:xfrm>
            <a:off x="8083296" y="603504"/>
            <a:ext cx="4315968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100" b="1">
                <a:solidFill>
                  <a:srgbClr val="1B2430"/>
                </a:solidFill>
                <a:latin typeface="Arial"/>
              </a:rPr>
              <a:t>YOLO validation on final JPEG</a:t>
            </a:r>
            <a:br/>
            <a:r>
              <a:rPr lang="en-US" sz="1100" b="1">
                <a:solidFill>
                  <a:srgbClr val="1B2430"/>
                </a:solidFill>
                <a:latin typeface="Arial"/>
              </a:rPr>
              <a:t>Correct count · class · IoU match</a:t>
            </a:r>
          </a:p>
        </p:txBody>
      </p:sp>
      <p:pic>
        <p:nvPicPr>
          <p:cNvPr id="46" name="det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73568" y="987552"/>
            <a:ext cx="4462272" cy="3346704"/>
          </a:xfrm>
          <a:prstGeom prst="rect">
            <a:avLst/>
          </a:prstGeom>
        </p:spPr>
      </p:pic>
      <p:sp>
        <p:nvSpPr>
          <p:cNvPr id="47" name="det notes"/>
          <p:cNvSpPr/>
          <p:nvPr/>
        </p:nvSpPr>
        <p:spPr>
          <a:xfrm>
            <a:off x="7918704" y="4434840"/>
            <a:ext cx="4590288" cy="1115568"/>
          </a:xfrm>
          <a:prstGeom prst="roundRect">
            <a:avLst/>
          </a:prstGeom>
          <a:solidFill>
            <a:srgbClr val="FFF4D8"/>
          </a:solidFill>
          <a:ln w="12700">
            <a:solidFill>
              <a:srgbClr val="E8D99C"/>
            </a:solidFill>
          </a:ln>
        </p:spPr>
      </p:sp>
      <p:sp>
        <p:nvSpPr>
          <p:cNvPr id="48" name="det bullets"/>
          <p:cNvSpPr/>
          <p:nvPr/>
        </p:nvSpPr>
        <p:spPr>
          <a:xfrm>
            <a:off x="8101584" y="4553712"/>
            <a:ext cx="4187952" cy="822960"/>
          </a:xfrm>
          <a:prstGeom prst="rect">
            <a:avLst/>
          </a:prstGeom>
          <a:noFill/>
          <a:ln>
            <a:noFill/>
          </a:ln>
        </p:spPr>
        <p:txBody>
          <a:bodyPr wrap="square" anchor="top">
            <a:spAutoFit/>
          </a:bodyPr>
          <a:lstStyle/>
          <a:p>
            <a:pPr algn="l"/>
            <a:r>
              <a:rPr lang="en-US" sz="1000" b="1">
                <a:solidFill>
                  <a:srgbClr val="1B2430"/>
                </a:solidFill>
                <a:latin typeface="Arial"/>
              </a:rPr>
              <a:t>• correct class and count</a:t>
            </a:r>
          </a:p>
          <a:p>
            <a:pPr algn="l"/>
            <a:r>
              <a:rPr lang="en-US" sz="1000" b="1">
                <a:solidFill>
                  <a:srgbClr val="1B2430"/>
                </a:solidFill>
                <a:latin typeface="Arial"/>
              </a:rPr>
              <a:t>• IoU consistency</a:t>
            </a:r>
          </a:p>
          <a:p>
            <a:pPr algn="l"/>
            <a:r>
              <a:rPr lang="en-US" sz="1000" b="1">
                <a:solidFill>
                  <a:srgbClr val="1B2430"/>
                </a:solidFill>
                <a:latin typeface="Arial"/>
              </a:rPr>
              <a:t>• one valid agent marker</a:t>
            </a:r>
          </a:p>
          <a:p>
            <a:pPr algn="l"/>
            <a:r>
              <a:rPr lang="en-US" sz="1000" b="1">
                <a:solidFill>
                  <a:srgbClr val="1B2430"/>
                </a:solidFill>
                <a:latin typeface="Arial"/>
              </a:rPr>
              <a:t>• pass or discard image</a:t>
            </a:r>
          </a:p>
        </p:txBody>
      </p:sp>
      <p:cxnSp>
        <p:nvCxnSpPr>
          <p:cNvPr id="49" name="main arrow"/>
          <p:cNvCxnSpPr/>
          <p:nvPr/>
        </p:nvCxnSpPr>
        <p:spPr>
          <a:xfrm>
            <a:off x="12646152" y="2834640"/>
            <a:ext cx="192024" cy="0"/>
          </a:xfrm>
          <a:prstGeom prst="line">
            <a:avLst/>
          </a:prstGeom>
          <a:ln w="53340">
            <a:solidFill>
              <a:srgbClr val="000000"/>
            </a:solidFill>
            <a:tailEnd type="triangle" w="med" len="med"/>
          </a:ln>
        </p:spPr>
      </p:cxnSp>
      <p:sp>
        <p:nvSpPr>
          <p:cNvPr id="50" name="graid headline"/>
          <p:cNvSpPr/>
          <p:nvPr/>
        </p:nvSpPr>
        <p:spPr>
          <a:xfrm>
            <a:off x="13021056" y="658368"/>
            <a:ext cx="2267712" cy="53035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80" b="1">
                <a:solidFill>
                  <a:srgbClr val="1B2430"/>
                </a:solidFill>
                <a:latin typeface="Arial"/>
              </a:rPr>
              <a:t>Image-grounded QA</a:t>
            </a:r>
            <a:br/>
            <a:r>
              <a:rPr lang="en-US" sz="880" b="1">
                <a:solidFill>
                  <a:srgbClr val="1B2430"/>
                </a:solidFill>
                <a:latin typeface="Arial"/>
              </a:rPr>
              <a:t>generation</a:t>
            </a:r>
            <a:br/>
            <a:r>
              <a:rPr lang="en-US" sz="880" b="1">
                <a:solidFill>
                  <a:srgbClr val="1B2430"/>
                </a:solidFill>
                <a:latin typeface="Arial"/>
              </a:rPr>
              <a:t>Templates · predicates ·</a:t>
            </a:r>
            <a:br/>
            <a:r>
              <a:rPr lang="en-US" sz="880" b="1">
                <a:solidFill>
                  <a:srgbClr val="1B2430"/>
                </a:solidFill>
                <a:latin typeface="Arial"/>
              </a:rPr>
              <a:t>2D geometry</a:t>
            </a:r>
          </a:p>
        </p:txBody>
      </p:sp>
      <p:cxnSp>
        <p:nvCxnSpPr>
          <p:cNvPr id="51" name="edge"/>
          <p:cNvCxnSpPr/>
          <p:nvPr/>
        </p:nvCxnSpPr>
        <p:spPr>
          <a:xfrm flipH="1">
            <a:off x="13825728" y="1417320"/>
            <a:ext cx="301752" cy="320040"/>
          </a:xfrm>
          <a:prstGeom prst="line">
            <a:avLst/>
          </a:prstGeom>
          <a:ln w="13970">
            <a:solidFill>
              <a:srgbClr val="6A7785"/>
            </a:solidFill>
          </a:ln>
        </p:spPr>
      </p:cxnSp>
      <p:cxnSp>
        <p:nvCxnSpPr>
          <p:cNvPr id="52" name="edge"/>
          <p:cNvCxnSpPr/>
          <p:nvPr/>
        </p:nvCxnSpPr>
        <p:spPr>
          <a:xfrm>
            <a:off x="14127480" y="1417320"/>
            <a:ext cx="338328" cy="320040"/>
          </a:xfrm>
          <a:prstGeom prst="line">
            <a:avLst/>
          </a:prstGeom>
          <a:ln w="13970">
            <a:solidFill>
              <a:srgbClr val="6A7785"/>
            </a:solidFill>
          </a:ln>
        </p:spPr>
      </p:cxnSp>
      <p:cxnSp>
        <p:nvCxnSpPr>
          <p:cNvPr id="53" name="edge"/>
          <p:cNvCxnSpPr/>
          <p:nvPr/>
        </p:nvCxnSpPr>
        <p:spPr>
          <a:xfrm>
            <a:off x="13825728" y="1737360"/>
            <a:ext cx="164592" cy="310896"/>
          </a:xfrm>
          <a:prstGeom prst="line">
            <a:avLst/>
          </a:prstGeom>
          <a:ln w="13970">
            <a:solidFill>
              <a:srgbClr val="6A7785"/>
            </a:solidFill>
          </a:ln>
        </p:spPr>
      </p:cxnSp>
      <p:cxnSp>
        <p:nvCxnSpPr>
          <p:cNvPr id="54" name="edge"/>
          <p:cNvCxnSpPr/>
          <p:nvPr/>
        </p:nvCxnSpPr>
        <p:spPr>
          <a:xfrm>
            <a:off x="14465808" y="1737360"/>
            <a:ext cx="146304" cy="310896"/>
          </a:xfrm>
          <a:prstGeom prst="line">
            <a:avLst/>
          </a:prstGeom>
          <a:ln w="13970">
            <a:solidFill>
              <a:srgbClr val="6A7785"/>
            </a:solidFill>
          </a:ln>
        </p:spPr>
      </p:cxnSp>
      <p:cxnSp>
        <p:nvCxnSpPr>
          <p:cNvPr id="55" name="edge"/>
          <p:cNvCxnSpPr/>
          <p:nvPr/>
        </p:nvCxnSpPr>
        <p:spPr>
          <a:xfrm>
            <a:off x="13990320" y="2048256"/>
            <a:ext cx="228600" cy="283464"/>
          </a:xfrm>
          <a:prstGeom prst="line">
            <a:avLst/>
          </a:prstGeom>
          <a:ln w="13970">
            <a:solidFill>
              <a:srgbClr val="6A7785"/>
            </a:solidFill>
          </a:ln>
        </p:spPr>
      </p:cxnSp>
      <p:cxnSp>
        <p:nvCxnSpPr>
          <p:cNvPr id="56" name="edge"/>
          <p:cNvCxnSpPr/>
          <p:nvPr/>
        </p:nvCxnSpPr>
        <p:spPr>
          <a:xfrm flipH="1">
            <a:off x="14218920" y="2048256"/>
            <a:ext cx="393192" cy="283464"/>
          </a:xfrm>
          <a:prstGeom prst="line">
            <a:avLst/>
          </a:prstGeom>
          <a:ln w="13970">
            <a:solidFill>
              <a:srgbClr val="6A7785"/>
            </a:solidFill>
          </a:ln>
        </p:spPr>
      </p:cxnSp>
      <p:cxnSp>
        <p:nvCxnSpPr>
          <p:cNvPr id="57" name="edge"/>
          <p:cNvCxnSpPr/>
          <p:nvPr/>
        </p:nvCxnSpPr>
        <p:spPr>
          <a:xfrm>
            <a:off x="13825728" y="1737360"/>
            <a:ext cx="393192" cy="594360"/>
          </a:xfrm>
          <a:prstGeom prst="line">
            <a:avLst/>
          </a:prstGeom>
          <a:ln w="13970">
            <a:solidFill>
              <a:srgbClr val="6A7785"/>
            </a:solidFill>
          </a:ln>
        </p:spPr>
      </p:cxnSp>
      <p:cxnSp>
        <p:nvCxnSpPr>
          <p:cNvPr id="58" name="edge"/>
          <p:cNvCxnSpPr/>
          <p:nvPr/>
        </p:nvCxnSpPr>
        <p:spPr>
          <a:xfrm flipH="1">
            <a:off x="13990320" y="1737360"/>
            <a:ext cx="475488" cy="310896"/>
          </a:xfrm>
          <a:prstGeom prst="line">
            <a:avLst/>
          </a:prstGeom>
          <a:ln w="13970">
            <a:solidFill>
              <a:srgbClr val="6A7785"/>
            </a:solidFill>
          </a:ln>
        </p:spPr>
      </p:cxnSp>
      <p:sp>
        <p:nvSpPr>
          <p:cNvPr id="59" name="node"/>
          <p:cNvSpPr/>
          <p:nvPr/>
        </p:nvSpPr>
        <p:spPr>
          <a:xfrm>
            <a:off x="14077188" y="1367028"/>
            <a:ext cx="100584" cy="100584"/>
          </a:xfrm>
          <a:prstGeom prst="ellipse">
            <a:avLst/>
          </a:prstGeom>
          <a:solidFill>
            <a:srgbClr val="6CAA5D"/>
          </a:solidFill>
          <a:ln w="10160">
            <a:solidFill>
              <a:srgbClr val="FFFFFF"/>
            </a:solidFill>
          </a:ln>
        </p:spPr>
      </p:sp>
      <p:sp>
        <p:nvSpPr>
          <p:cNvPr id="60" name="node"/>
          <p:cNvSpPr/>
          <p:nvPr/>
        </p:nvSpPr>
        <p:spPr>
          <a:xfrm>
            <a:off x="13775436" y="1687068"/>
            <a:ext cx="100584" cy="100584"/>
          </a:xfrm>
          <a:prstGeom prst="ellipse">
            <a:avLst/>
          </a:prstGeom>
          <a:solidFill>
            <a:srgbClr val="6CAA5D"/>
          </a:solidFill>
          <a:ln w="10160">
            <a:solidFill>
              <a:srgbClr val="FFFFFF"/>
            </a:solidFill>
          </a:ln>
        </p:spPr>
      </p:sp>
      <p:sp>
        <p:nvSpPr>
          <p:cNvPr id="61" name="node"/>
          <p:cNvSpPr/>
          <p:nvPr/>
        </p:nvSpPr>
        <p:spPr>
          <a:xfrm>
            <a:off x="14415516" y="1687068"/>
            <a:ext cx="100584" cy="100584"/>
          </a:xfrm>
          <a:prstGeom prst="ellipse">
            <a:avLst/>
          </a:prstGeom>
          <a:solidFill>
            <a:srgbClr val="4378BF"/>
          </a:solidFill>
          <a:ln w="10160">
            <a:solidFill>
              <a:srgbClr val="FFFFFF"/>
            </a:solidFill>
          </a:ln>
        </p:spPr>
      </p:sp>
      <p:sp>
        <p:nvSpPr>
          <p:cNvPr id="62" name="node"/>
          <p:cNvSpPr/>
          <p:nvPr/>
        </p:nvSpPr>
        <p:spPr>
          <a:xfrm>
            <a:off x="13940028" y="1997964"/>
            <a:ext cx="100584" cy="100584"/>
          </a:xfrm>
          <a:prstGeom prst="ellipse">
            <a:avLst/>
          </a:prstGeom>
          <a:solidFill>
            <a:srgbClr val="6CAA5D"/>
          </a:solidFill>
          <a:ln w="10160">
            <a:solidFill>
              <a:srgbClr val="FFFFFF"/>
            </a:solidFill>
          </a:ln>
        </p:spPr>
      </p:sp>
      <p:sp>
        <p:nvSpPr>
          <p:cNvPr id="63" name="node"/>
          <p:cNvSpPr/>
          <p:nvPr/>
        </p:nvSpPr>
        <p:spPr>
          <a:xfrm>
            <a:off x="14561820" y="1997964"/>
            <a:ext cx="100584" cy="100584"/>
          </a:xfrm>
          <a:prstGeom prst="ellipse">
            <a:avLst/>
          </a:prstGeom>
          <a:solidFill>
            <a:srgbClr val="4378BF"/>
          </a:solidFill>
          <a:ln w="10160">
            <a:solidFill>
              <a:srgbClr val="FFFFFF"/>
            </a:solidFill>
          </a:ln>
        </p:spPr>
      </p:sp>
      <p:sp>
        <p:nvSpPr>
          <p:cNvPr id="64" name="node"/>
          <p:cNvSpPr/>
          <p:nvPr/>
        </p:nvSpPr>
        <p:spPr>
          <a:xfrm>
            <a:off x="14168628" y="2281428"/>
            <a:ext cx="100584" cy="100584"/>
          </a:xfrm>
          <a:prstGeom prst="ellipse">
            <a:avLst/>
          </a:prstGeom>
          <a:solidFill>
            <a:srgbClr val="4378BF"/>
          </a:solidFill>
          <a:ln w="10160">
            <a:solidFill>
              <a:srgbClr val="FFFFFF"/>
            </a:solidFill>
          </a:ln>
        </p:spPr>
      </p:sp>
      <p:sp>
        <p:nvSpPr>
          <p:cNvPr id="65" name="GRAID"/>
          <p:cNvSpPr/>
          <p:nvPr/>
        </p:nvSpPr>
        <p:spPr>
          <a:xfrm>
            <a:off x="13395960" y="239572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500" b="1">
                <a:solidFill>
                  <a:srgbClr val="1B2430"/>
                </a:solidFill>
                <a:latin typeface="Arial"/>
              </a:rPr>
              <a:t>GRAID</a:t>
            </a:r>
          </a:p>
        </p:txBody>
      </p:sp>
      <p:sp>
        <p:nvSpPr>
          <p:cNvPr id="66" name="graid box"/>
          <p:cNvSpPr/>
          <p:nvPr/>
        </p:nvSpPr>
        <p:spPr>
          <a:xfrm>
            <a:off x="13094208" y="3685032"/>
            <a:ext cx="2121408" cy="1307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9D8"/>
            </a:solidFill>
          </a:ln>
        </p:spPr>
      </p:sp>
      <p:sp>
        <p:nvSpPr>
          <p:cNvPr id="67" name="graid box txt"/>
          <p:cNvSpPr/>
          <p:nvPr/>
        </p:nvSpPr>
        <p:spPr>
          <a:xfrm>
            <a:off x="13277088" y="3822192"/>
            <a:ext cx="1737360" cy="969264"/>
          </a:xfrm>
          <a:prstGeom prst="rect">
            <a:avLst/>
          </a:prstGeom>
          <a:noFill/>
          <a:ln>
            <a:noFill/>
          </a:ln>
        </p:spPr>
        <p:txBody>
          <a:bodyPr wrap="square" anchor="top">
            <a:spAutoFit/>
          </a:bodyPr>
          <a:lstStyle/>
          <a:p>
            <a:pPr algn="l"/>
            <a:r>
              <a:rPr lang="en-US" sz="819" b="1">
                <a:solidFill>
                  <a:srgbClr val="1B2430"/>
                </a:solidFill>
                <a:latin typeface="Arial"/>
              </a:rPr>
              <a:t>Image-grounded QA</a:t>
            </a:r>
          </a:p>
          <a:p>
            <a:pPr algn="l"/>
            <a:r>
              <a:rPr lang="en-US" sz="819" b="1">
                <a:solidFill>
                  <a:srgbClr val="1B2430"/>
                </a:solidFill>
                <a:latin typeface="Arial"/>
              </a:rPr>
              <a:t>generation</a:t>
            </a:r>
          </a:p>
          <a:p>
            <a:pPr algn="l"/>
            <a:r>
              <a:rPr lang="en-US" sz="819" b="1">
                <a:solidFill>
                  <a:srgbClr val="1B2430"/>
                </a:solidFill>
                <a:latin typeface="Arial"/>
              </a:rPr>
              <a:t/>
            </a:r>
          </a:p>
          <a:p>
            <a:pPr algn="l"/>
            <a:r>
              <a:rPr lang="en-US" sz="819" b="1">
                <a:solidFill>
                  <a:srgbClr val="1B2430"/>
                </a:solidFill>
                <a:latin typeface="Arial"/>
              </a:rPr>
              <a:t>• templates</a:t>
            </a:r>
          </a:p>
          <a:p>
            <a:pPr algn="l"/>
            <a:r>
              <a:rPr lang="en-US" sz="819" b="1">
                <a:solidFill>
                  <a:srgbClr val="1B2430"/>
                </a:solidFill>
                <a:latin typeface="Arial"/>
              </a:rPr>
              <a:t>• geometric rules</a:t>
            </a:r>
          </a:p>
          <a:p>
            <a:pPr algn="l"/>
            <a:r>
              <a:rPr lang="en-US" sz="819" b="1">
                <a:solidFill>
                  <a:srgbClr val="1B2430"/>
                </a:solidFill>
                <a:latin typeface="Arial"/>
              </a:rPr>
              <a:t>• spatial predicates</a:t>
            </a:r>
          </a:p>
        </p:txBody>
      </p:sp>
      <p:cxnSp>
        <p:nvCxnSpPr>
          <p:cNvPr id="68" name="main arrow"/>
          <p:cNvCxnSpPr/>
          <p:nvPr/>
        </p:nvCxnSpPr>
        <p:spPr>
          <a:xfrm>
            <a:off x="15489936" y="2834640"/>
            <a:ext cx="182880" cy="0"/>
          </a:xfrm>
          <a:prstGeom prst="line">
            <a:avLst/>
          </a:prstGeom>
          <a:ln w="53340">
            <a:solidFill>
              <a:srgbClr val="000000"/>
            </a:solidFill>
            <a:tailEnd type="triangle" w="med" len="med"/>
          </a:ln>
        </p:spPr>
      </p:cxnSp>
      <p:sp>
        <p:nvSpPr>
          <p:cNvPr id="69" name="qa headline"/>
          <p:cNvSpPr/>
          <p:nvPr/>
        </p:nvSpPr>
        <p:spPr>
          <a:xfrm>
            <a:off x="15855696" y="658368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880" b="1">
                <a:solidFill>
                  <a:srgbClr val="1B2430"/>
                </a:solidFill>
                <a:latin typeface="Arial"/>
              </a:rPr>
              <a:t>Image-grounded QA pairs</a:t>
            </a:r>
            <a:br/>
            <a:r>
              <a:rPr lang="en-US" sz="880" b="1">
                <a:solidFill>
                  <a:srgbClr val="1B2430"/>
                </a:solidFill>
                <a:latin typeface="Arial"/>
              </a:rPr>
              <a:t>Short answers</a:t>
            </a:r>
            <a:br/>
            <a:r>
              <a:rPr lang="en-US" sz="880" b="1">
                <a:solidFill>
                  <a:srgbClr val="1B2430"/>
                </a:solidFill>
                <a:latin typeface="Arial"/>
              </a:rPr>
              <a:t>Deterministic labels</a:t>
            </a:r>
          </a:p>
        </p:txBody>
      </p:sp>
      <p:sp>
        <p:nvSpPr>
          <p:cNvPr id="70" name="qa card"/>
          <p:cNvSpPr/>
          <p:nvPr/>
        </p:nvSpPr>
        <p:spPr>
          <a:xfrm>
            <a:off x="15864840" y="987552"/>
            <a:ext cx="210312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</p:sp>
      <p:sp>
        <p:nvSpPr>
          <p:cNvPr id="71" name="q"/>
          <p:cNvSpPr/>
          <p:nvPr/>
        </p:nvSpPr>
        <p:spPr>
          <a:xfrm>
            <a:off x="16047720" y="111556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890" b="1">
                <a:solidFill>
                  <a:srgbClr val="1B2430"/>
                </a:solidFill>
                <a:latin typeface="Arial"/>
              </a:rPr>
              <a:t>Q: Closest Bench?</a:t>
            </a:r>
          </a:p>
        </p:txBody>
      </p:sp>
      <p:sp>
        <p:nvSpPr>
          <p:cNvPr id="72" name="a"/>
          <p:cNvSpPr/>
          <p:nvPr/>
        </p:nvSpPr>
        <p:spPr>
          <a:xfrm>
            <a:off x="16047720" y="1481328"/>
            <a:ext cx="7863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890" b="1">
                <a:solidFill>
                  <a:srgbClr val="1B2430"/>
                </a:solidFill>
                <a:latin typeface="Arial"/>
              </a:rPr>
              <a:t>A: 3</a:t>
            </a:r>
          </a:p>
        </p:txBody>
      </p:sp>
      <p:sp>
        <p:nvSpPr>
          <p:cNvPr id="73" name="tag"/>
          <p:cNvSpPr/>
          <p:nvPr/>
        </p:nvSpPr>
        <p:spPr>
          <a:xfrm>
            <a:off x="17218152" y="1417320"/>
            <a:ext cx="658368" cy="256032"/>
          </a:xfrm>
          <a:prstGeom prst="roundRect">
            <a:avLst/>
          </a:prstGeom>
          <a:solidFill>
            <a:srgbClr val="B9D4FF"/>
          </a:solidFill>
          <a:ln w="10160">
            <a:solidFill>
              <a:srgbClr val="CED6E2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710" b="1">
                <a:solidFill>
                  <a:srgbClr val="3A6FB4"/>
                </a:solidFill>
                <a:latin typeface="Arial"/>
              </a:rPr>
              <a:t>Closest</a:t>
            </a:r>
          </a:p>
        </p:txBody>
      </p:sp>
      <p:sp>
        <p:nvSpPr>
          <p:cNvPr id="74" name="qa card"/>
          <p:cNvSpPr/>
          <p:nvPr/>
        </p:nvSpPr>
        <p:spPr>
          <a:xfrm>
            <a:off x="15864840" y="1947672"/>
            <a:ext cx="210312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</p:sp>
      <p:sp>
        <p:nvSpPr>
          <p:cNvPr id="75" name="q"/>
          <p:cNvSpPr/>
          <p:nvPr/>
        </p:nvSpPr>
        <p:spPr>
          <a:xfrm>
            <a:off x="16047720" y="20756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890" b="1">
                <a:solidFill>
                  <a:srgbClr val="1B2430"/>
                </a:solidFill>
                <a:latin typeface="Arial"/>
              </a:rPr>
              <a:t>Q: Closer stop sign (1, 2) ?</a:t>
            </a:r>
          </a:p>
        </p:txBody>
      </p:sp>
      <p:sp>
        <p:nvSpPr>
          <p:cNvPr id="76" name="a"/>
          <p:cNvSpPr/>
          <p:nvPr/>
        </p:nvSpPr>
        <p:spPr>
          <a:xfrm>
            <a:off x="16047720" y="2441448"/>
            <a:ext cx="7863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890" b="1">
                <a:solidFill>
                  <a:srgbClr val="1B2430"/>
                </a:solidFill>
                <a:latin typeface="Arial"/>
              </a:rPr>
              <a:t>A: 2</a:t>
            </a:r>
          </a:p>
        </p:txBody>
      </p:sp>
      <p:sp>
        <p:nvSpPr>
          <p:cNvPr id="77" name="tag"/>
          <p:cNvSpPr/>
          <p:nvPr/>
        </p:nvSpPr>
        <p:spPr>
          <a:xfrm>
            <a:off x="17218152" y="2377440"/>
            <a:ext cx="658368" cy="256032"/>
          </a:xfrm>
          <a:prstGeom prst="roundRect">
            <a:avLst/>
          </a:prstGeom>
          <a:solidFill>
            <a:srgbClr val="D9EFCB"/>
          </a:solidFill>
          <a:ln w="10160">
            <a:solidFill>
              <a:srgbClr val="CED6E2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710" b="1">
                <a:solidFill>
                  <a:srgbClr val="4D7F34"/>
                </a:solidFill>
                <a:latin typeface="Arial"/>
              </a:rPr>
              <a:t>Pairwise</a:t>
            </a:r>
          </a:p>
        </p:txBody>
      </p:sp>
      <p:sp>
        <p:nvSpPr>
          <p:cNvPr id="78" name="qa card"/>
          <p:cNvSpPr/>
          <p:nvPr/>
        </p:nvSpPr>
        <p:spPr>
          <a:xfrm>
            <a:off x="15864840" y="2907792"/>
            <a:ext cx="210312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</p:sp>
      <p:sp>
        <p:nvSpPr>
          <p:cNvPr id="79" name="q"/>
          <p:cNvSpPr/>
          <p:nvPr/>
        </p:nvSpPr>
        <p:spPr>
          <a:xfrm>
            <a:off x="16047720" y="303580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890" b="1">
                <a:solidFill>
                  <a:srgbClr val="1B2430"/>
                </a:solidFill>
                <a:latin typeface="Arial"/>
              </a:rPr>
              <a:t>Q: Direction of stop sign #3 ?</a:t>
            </a:r>
          </a:p>
        </p:txBody>
      </p:sp>
      <p:sp>
        <p:nvSpPr>
          <p:cNvPr id="80" name="a"/>
          <p:cNvSpPr/>
          <p:nvPr/>
        </p:nvSpPr>
        <p:spPr>
          <a:xfrm>
            <a:off x="16047720" y="3401568"/>
            <a:ext cx="7863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890" b="1">
                <a:solidFill>
                  <a:srgbClr val="1B2430"/>
                </a:solidFill>
                <a:latin typeface="Arial"/>
              </a:rPr>
              <a:t>A: Northeast</a:t>
            </a:r>
          </a:p>
        </p:txBody>
      </p:sp>
      <p:sp>
        <p:nvSpPr>
          <p:cNvPr id="81" name="tag"/>
          <p:cNvSpPr/>
          <p:nvPr/>
        </p:nvSpPr>
        <p:spPr>
          <a:xfrm>
            <a:off x="17218152" y="3337560"/>
            <a:ext cx="658368" cy="256032"/>
          </a:xfrm>
          <a:prstGeom prst="roundRect">
            <a:avLst/>
          </a:prstGeom>
          <a:solidFill>
            <a:srgbClr val="FFE5C6"/>
          </a:solidFill>
          <a:ln w="10160">
            <a:solidFill>
              <a:srgbClr val="CED6E2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710" b="1">
                <a:solidFill>
                  <a:srgbClr val="C7782D"/>
                </a:solidFill>
                <a:latin typeface="Arial"/>
              </a:rPr>
              <a:t>Direction</a:t>
            </a:r>
          </a:p>
        </p:txBody>
      </p:sp>
      <p:sp>
        <p:nvSpPr>
          <p:cNvPr id="82" name="qa card"/>
          <p:cNvSpPr/>
          <p:nvPr/>
        </p:nvSpPr>
        <p:spPr>
          <a:xfrm>
            <a:off x="15864840" y="3867912"/>
            <a:ext cx="210312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</p:sp>
      <p:sp>
        <p:nvSpPr>
          <p:cNvPr id="83" name="q"/>
          <p:cNvSpPr/>
          <p:nvPr/>
        </p:nvSpPr>
        <p:spPr>
          <a:xfrm>
            <a:off x="16047720" y="399592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890" b="1">
                <a:solidFill>
                  <a:srgbClr val="1B2430"/>
                </a:solidFill>
                <a:latin typeface="Arial"/>
              </a:rPr>
              <a:t>Q: Turn direction to bench #4 ?</a:t>
            </a:r>
          </a:p>
        </p:txBody>
      </p:sp>
      <p:sp>
        <p:nvSpPr>
          <p:cNvPr id="84" name="a"/>
          <p:cNvSpPr/>
          <p:nvPr/>
        </p:nvSpPr>
        <p:spPr>
          <a:xfrm>
            <a:off x="16047720" y="4361688"/>
            <a:ext cx="7863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890" b="1">
                <a:solidFill>
                  <a:srgbClr val="1B2430"/>
                </a:solidFill>
                <a:latin typeface="Arial"/>
              </a:rPr>
              <a:t>A: Turn left</a:t>
            </a:r>
          </a:p>
        </p:txBody>
      </p:sp>
      <p:sp>
        <p:nvSpPr>
          <p:cNvPr id="85" name="tag"/>
          <p:cNvSpPr/>
          <p:nvPr/>
        </p:nvSpPr>
        <p:spPr>
          <a:xfrm>
            <a:off x="17218152" y="4297680"/>
            <a:ext cx="658368" cy="256032"/>
          </a:xfrm>
          <a:prstGeom prst="roundRect">
            <a:avLst/>
          </a:prstGeom>
          <a:solidFill>
            <a:srgbClr val="E2D4FF"/>
          </a:solidFill>
          <a:ln w="10160">
            <a:solidFill>
              <a:srgbClr val="CED6E2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710" b="1">
                <a:solidFill>
                  <a:srgbClr val="7158BB"/>
                </a:solidFill>
                <a:latin typeface="Arial"/>
              </a:rPr>
              <a:t>Heading</a:t>
            </a:r>
          </a:p>
        </p:txBody>
      </p:sp>
      <p:sp>
        <p:nvSpPr>
          <p:cNvPr id="86" name="qa card"/>
          <p:cNvSpPr/>
          <p:nvPr/>
        </p:nvSpPr>
        <p:spPr>
          <a:xfrm>
            <a:off x="15864840" y="4828032"/>
            <a:ext cx="210312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</p:sp>
      <p:sp>
        <p:nvSpPr>
          <p:cNvPr id="87" name="q"/>
          <p:cNvSpPr/>
          <p:nvPr/>
        </p:nvSpPr>
        <p:spPr>
          <a:xfrm>
            <a:off x="16047720" y="495604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890" b="1">
                <a:solidFill>
                  <a:srgbClr val="1B2430"/>
                </a:solidFill>
                <a:latin typeface="Arial"/>
              </a:rPr>
              <a:t>Q: Obstacle-aware action?</a:t>
            </a:r>
          </a:p>
        </p:txBody>
      </p:sp>
      <p:sp>
        <p:nvSpPr>
          <p:cNvPr id="88" name="a"/>
          <p:cNvSpPr/>
          <p:nvPr/>
        </p:nvSpPr>
        <p:spPr>
          <a:xfrm>
            <a:off x="16047720" y="5321808"/>
            <a:ext cx="7863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890" b="1">
                <a:solidFill>
                  <a:srgbClr val="1B2430"/>
                </a:solidFill>
                <a:latin typeface="Arial"/>
              </a:rPr>
              <a:t>A: Turn right</a:t>
            </a:r>
          </a:p>
        </p:txBody>
      </p:sp>
      <p:sp>
        <p:nvSpPr>
          <p:cNvPr id="89" name="tag"/>
          <p:cNvSpPr/>
          <p:nvPr/>
        </p:nvSpPr>
        <p:spPr>
          <a:xfrm>
            <a:off x="17218152" y="5257800"/>
            <a:ext cx="658368" cy="256032"/>
          </a:xfrm>
          <a:prstGeom prst="roundRect">
            <a:avLst/>
          </a:prstGeom>
          <a:solidFill>
            <a:srgbClr val="FFD6D6"/>
          </a:solidFill>
          <a:ln w="10160">
            <a:solidFill>
              <a:srgbClr val="CED6E2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710" b="1">
                <a:solidFill>
                  <a:srgbClr val="C65A5A"/>
                </a:solidFill>
                <a:latin typeface="Arial"/>
              </a:rPr>
              <a:t>Avoidance</a:t>
            </a:r>
          </a:p>
        </p:txBody>
      </p:sp>
      <p:sp>
        <p:nvSpPr>
          <p:cNvPr id="90" name="dots"/>
          <p:cNvSpPr/>
          <p:nvPr/>
        </p:nvSpPr>
        <p:spPr>
          <a:xfrm>
            <a:off x="16843248" y="5989320"/>
            <a:ext cx="237744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800" b="1">
                <a:solidFill>
                  <a:srgbClr val="1B2430"/>
                </a:solidFill>
                <a:latin typeface="Arial"/>
              </a:rPr>
              <a:t>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Custom</PresentationFormat>
  <Slides>1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Zoo-Bus-VQA Generation Pipeline Compact</dc:title>
  <dc:creator>Codex</dc:creator>
  <cp:lastModifiedBy>Codex</cp:lastModifiedBy>
  <dcterms:created xsi:type="dcterms:W3CDTF">2026-05-24T06:56:47Z</dcterms:created>
  <dcterms:modified xsi:type="dcterms:W3CDTF">2026-05-24T06:56:47Z</dcterms:modified>
</cp:coreProperties>
</file>